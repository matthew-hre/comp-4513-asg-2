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1" r:id="rId2"/>
    <p:sldId id="282" r:id="rId3"/>
    <p:sldId id="281" r:id="rId4"/>
    <p:sldId id="279" r:id="rId5"/>
    <p:sldId id="278" r:id="rId6"/>
    <p:sldId id="285" r:id="rId7"/>
    <p:sldId id="286" r:id="rId8"/>
    <p:sldId id="28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3838"/>
    <a:srgbClr val="D9D9D9"/>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p:scale>
          <a:sx n="100" d="100"/>
          <a:sy n="100" d="100"/>
        </p:scale>
        <p:origin x="624" y="35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E6F92E7-C3BD-47F2-BDEF-372BA70DA152}"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1650478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6F92E7-C3BD-47F2-BDEF-372BA70DA152}"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2600301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E6F92E7-C3BD-47F2-BDEF-372BA70DA152}"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112180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E6F92E7-C3BD-47F2-BDEF-372BA70DA152}"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1451575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E6F92E7-C3BD-47F2-BDEF-372BA70DA152}" type="datetimeFigureOut">
              <a:rPr lang="en-US" smtClean="0"/>
              <a:t>2/24/2026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4208097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E6F92E7-C3BD-47F2-BDEF-372BA70DA152}" type="datetimeFigureOut">
              <a:rPr lang="en-US" smtClean="0"/>
              <a:t>2/24/2026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2755924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6F92E7-C3BD-47F2-BDEF-372BA70DA152}" type="datetimeFigureOut">
              <a:rPr lang="en-US" smtClean="0"/>
              <a:t>2/24/2026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457753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E6F92E7-C3BD-47F2-BDEF-372BA70DA152}"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66085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E6F92E7-C3BD-47F2-BDEF-372BA70DA152}"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2884441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6F92E7-C3BD-47F2-BDEF-372BA70DA152}"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3052073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6F92E7-C3BD-47F2-BDEF-372BA70DA152}"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1327754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6F92E7-C3BD-47F2-BDEF-372BA70DA152}" type="datetimeFigureOut">
              <a:rPr lang="en-US" smtClean="0"/>
              <a:t>2/24/2026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FB4CE5-84A8-487D-AF64-4ADCDC1421EB}" type="slidenum">
              <a:rPr lang="en-US" smtClean="0"/>
              <a:t>‹#›</a:t>
            </a:fld>
            <a:endParaRPr lang="en-US"/>
          </a:p>
        </p:txBody>
      </p:sp>
    </p:spTree>
    <p:extLst>
      <p:ext uri="{BB962C8B-B14F-4D97-AF65-F5344CB8AC3E}">
        <p14:creationId xmlns:p14="http://schemas.microsoft.com/office/powerpoint/2010/main" val="15253077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68">
            <a:extLst>
              <a:ext uri="{FF2B5EF4-FFF2-40B4-BE49-F238E27FC236}">
                <a16:creationId xmlns:a16="http://schemas.microsoft.com/office/drawing/2014/main" id="{EF2B1CAD-5224-5EC0-71CF-FFC5657647D1}"/>
              </a:ext>
            </a:extLst>
          </p:cNvPr>
          <p:cNvSpPr/>
          <p:nvPr/>
        </p:nvSpPr>
        <p:spPr>
          <a:xfrm>
            <a:off x="9689149" y="-541097"/>
            <a:ext cx="816171" cy="336318"/>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2409828-51CB-98B8-F97E-86EC460A70DF}"/>
              </a:ext>
            </a:extLst>
          </p:cNvPr>
          <p:cNvSpPr txBox="1"/>
          <p:nvPr/>
        </p:nvSpPr>
        <p:spPr>
          <a:xfrm>
            <a:off x="9714686" y="-530341"/>
            <a:ext cx="567784" cy="276999"/>
          </a:xfrm>
          <a:prstGeom prst="rect">
            <a:avLst/>
          </a:prstGeom>
          <a:noFill/>
        </p:spPr>
        <p:txBody>
          <a:bodyPr wrap="none" rtlCol="0">
            <a:spAutoFit/>
          </a:bodyPr>
          <a:lstStyle/>
          <a:p>
            <a:r>
              <a:rPr lang="en-US" sz="1200" b="1" dirty="0"/>
              <a:t>Home</a:t>
            </a:r>
          </a:p>
        </p:txBody>
      </p:sp>
      <p:sp>
        <p:nvSpPr>
          <p:cNvPr id="7" name="Rectangle 6">
            <a:extLst>
              <a:ext uri="{FF2B5EF4-FFF2-40B4-BE49-F238E27FC236}">
                <a16:creationId xmlns:a16="http://schemas.microsoft.com/office/drawing/2014/main" id="{C3BD87DC-378B-6DEB-D49C-6D682070663F}"/>
              </a:ext>
            </a:extLst>
          </p:cNvPr>
          <p:cNvSpPr/>
          <p:nvPr/>
        </p:nvSpPr>
        <p:spPr>
          <a:xfrm>
            <a:off x="880562" y="1241881"/>
            <a:ext cx="8067798" cy="33899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TextBox 14">
            <a:extLst>
              <a:ext uri="{FF2B5EF4-FFF2-40B4-BE49-F238E27FC236}">
                <a16:creationId xmlns:a16="http://schemas.microsoft.com/office/drawing/2014/main" id="{6C4CE1DB-0DE1-1057-E72A-3F5E132CB17B}"/>
              </a:ext>
            </a:extLst>
          </p:cNvPr>
          <p:cNvSpPr txBox="1"/>
          <p:nvPr/>
        </p:nvSpPr>
        <p:spPr>
          <a:xfrm>
            <a:off x="8948360" y="-1063289"/>
            <a:ext cx="1439210" cy="261610"/>
          </a:xfrm>
          <a:prstGeom prst="rect">
            <a:avLst/>
          </a:prstGeom>
          <a:noFill/>
        </p:spPr>
        <p:txBody>
          <a:bodyPr wrap="square" rtlCol="0">
            <a:spAutoFit/>
          </a:bodyPr>
          <a:lstStyle/>
          <a:p>
            <a:r>
              <a:rPr lang="en-US" sz="1100" i="1" dirty="0">
                <a:solidFill>
                  <a:srgbClr val="0070C0"/>
                </a:solidFill>
              </a:rPr>
              <a:t>switch to home page</a:t>
            </a:r>
          </a:p>
        </p:txBody>
      </p:sp>
      <p:cxnSp>
        <p:nvCxnSpPr>
          <p:cNvPr id="17" name="Straight Connector 16">
            <a:extLst>
              <a:ext uri="{FF2B5EF4-FFF2-40B4-BE49-F238E27FC236}">
                <a16:creationId xmlns:a16="http://schemas.microsoft.com/office/drawing/2014/main" id="{5E59E70F-6999-7F79-3376-DED4DEEAAF3F}"/>
              </a:ext>
            </a:extLst>
          </p:cNvPr>
          <p:cNvCxnSpPr>
            <a:cxnSpLocks/>
          </p:cNvCxnSpPr>
          <p:nvPr/>
        </p:nvCxnSpPr>
        <p:spPr>
          <a:xfrm>
            <a:off x="10154224" y="-793133"/>
            <a:ext cx="0" cy="275464"/>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1FD77C47-0F8E-B1FB-6DE6-6C29EFD4BE96}"/>
              </a:ext>
            </a:extLst>
          </p:cNvPr>
          <p:cNvSpPr txBox="1"/>
          <p:nvPr/>
        </p:nvSpPr>
        <p:spPr>
          <a:xfrm>
            <a:off x="3706824" y="2155886"/>
            <a:ext cx="2471785" cy="1446550"/>
          </a:xfrm>
          <a:prstGeom prst="rect">
            <a:avLst/>
          </a:prstGeom>
          <a:noFill/>
        </p:spPr>
        <p:txBody>
          <a:bodyPr wrap="square" rtlCol="0">
            <a:spAutoFit/>
          </a:bodyPr>
          <a:lstStyle/>
          <a:p>
            <a:r>
              <a:rPr lang="en-US" sz="1100" i="1" dirty="0">
                <a:solidFill>
                  <a:srgbClr val="0070C0"/>
                </a:solidFill>
              </a:rPr>
              <a:t>Make it interesting … typically a home page has an extra-large hero image, and a few featured artists featured in a larger rendition.</a:t>
            </a:r>
          </a:p>
          <a:p>
            <a:endParaRPr lang="en-US" sz="1100" i="1" dirty="0">
              <a:solidFill>
                <a:srgbClr val="0070C0"/>
              </a:solidFill>
            </a:endParaRPr>
          </a:p>
          <a:p>
            <a:r>
              <a:rPr lang="en-US" sz="1100" i="1" dirty="0">
                <a:solidFill>
                  <a:srgbClr val="0070C0"/>
                </a:solidFill>
              </a:rPr>
              <a:t>I’d encourage you to take a look at other sites for ideas.</a:t>
            </a:r>
          </a:p>
          <a:p>
            <a:endParaRPr lang="en-US" sz="1100" i="1" dirty="0">
              <a:solidFill>
                <a:srgbClr val="0070C0"/>
              </a:solidFill>
            </a:endParaRPr>
          </a:p>
        </p:txBody>
      </p:sp>
      <p:sp>
        <p:nvSpPr>
          <p:cNvPr id="26" name="Rounded Rectangle 68">
            <a:extLst>
              <a:ext uri="{FF2B5EF4-FFF2-40B4-BE49-F238E27FC236}">
                <a16:creationId xmlns:a16="http://schemas.microsoft.com/office/drawing/2014/main" id="{79820577-B15F-FC02-98C5-3DEF560AAD9A}"/>
              </a:ext>
            </a:extLst>
          </p:cNvPr>
          <p:cNvSpPr/>
          <p:nvPr/>
        </p:nvSpPr>
        <p:spPr>
          <a:xfrm>
            <a:off x="10727852" y="-541097"/>
            <a:ext cx="816171" cy="336318"/>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EEDB982C-F326-FBB3-9378-61B03CC3A558}"/>
              </a:ext>
            </a:extLst>
          </p:cNvPr>
          <p:cNvSpPr txBox="1"/>
          <p:nvPr/>
        </p:nvSpPr>
        <p:spPr>
          <a:xfrm>
            <a:off x="10753389" y="-530341"/>
            <a:ext cx="659219" cy="276999"/>
          </a:xfrm>
          <a:prstGeom prst="rect">
            <a:avLst/>
          </a:prstGeom>
          <a:noFill/>
        </p:spPr>
        <p:txBody>
          <a:bodyPr wrap="none" rtlCol="0">
            <a:spAutoFit/>
          </a:bodyPr>
          <a:lstStyle/>
          <a:p>
            <a:r>
              <a:rPr lang="en-US" sz="1200" b="1" dirty="0"/>
              <a:t>Browse</a:t>
            </a:r>
          </a:p>
        </p:txBody>
      </p:sp>
      <p:cxnSp>
        <p:nvCxnSpPr>
          <p:cNvPr id="28" name="Straight Connector 27">
            <a:extLst>
              <a:ext uri="{FF2B5EF4-FFF2-40B4-BE49-F238E27FC236}">
                <a16:creationId xmlns:a16="http://schemas.microsoft.com/office/drawing/2014/main" id="{765778DD-E584-DD08-9EBE-865CF4914157}"/>
              </a:ext>
            </a:extLst>
          </p:cNvPr>
          <p:cNvCxnSpPr>
            <a:cxnSpLocks/>
          </p:cNvCxnSpPr>
          <p:nvPr/>
        </p:nvCxnSpPr>
        <p:spPr>
          <a:xfrm>
            <a:off x="11087749" y="-771621"/>
            <a:ext cx="0" cy="275464"/>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F4665118-E8DF-4FAD-E577-AAE278BCBA32}"/>
              </a:ext>
            </a:extLst>
          </p:cNvPr>
          <p:cNvSpPr txBox="1"/>
          <p:nvPr/>
        </p:nvSpPr>
        <p:spPr>
          <a:xfrm>
            <a:off x="10356039" y="-1063289"/>
            <a:ext cx="1439210" cy="261610"/>
          </a:xfrm>
          <a:prstGeom prst="rect">
            <a:avLst/>
          </a:prstGeom>
          <a:noFill/>
        </p:spPr>
        <p:txBody>
          <a:bodyPr wrap="square" rtlCol="0">
            <a:spAutoFit/>
          </a:bodyPr>
          <a:lstStyle/>
          <a:p>
            <a:r>
              <a:rPr lang="en-US" sz="1100" i="1" dirty="0">
                <a:solidFill>
                  <a:srgbClr val="0070C0"/>
                </a:solidFill>
              </a:rPr>
              <a:t>switch to browse view</a:t>
            </a:r>
          </a:p>
        </p:txBody>
      </p:sp>
    </p:spTree>
    <p:extLst>
      <p:ext uri="{BB962C8B-B14F-4D97-AF65-F5344CB8AC3E}">
        <p14:creationId xmlns:p14="http://schemas.microsoft.com/office/powerpoint/2010/main" val="3821353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706F43-A676-70B8-E984-3F6F1673D700}"/>
              </a:ext>
            </a:extLst>
          </p:cNvPr>
          <p:cNvSpPr/>
          <p:nvPr/>
        </p:nvSpPr>
        <p:spPr>
          <a:xfrm>
            <a:off x="1151416" y="2215498"/>
            <a:ext cx="6469114" cy="58026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 name="TextBox 2">
            <a:extLst>
              <a:ext uri="{FF2B5EF4-FFF2-40B4-BE49-F238E27FC236}">
                <a16:creationId xmlns:a16="http://schemas.microsoft.com/office/drawing/2014/main" id="{3B1C5FD0-11C1-9708-61D2-DB72BFFEF4B0}"/>
              </a:ext>
            </a:extLst>
          </p:cNvPr>
          <p:cNvSpPr txBox="1"/>
          <p:nvPr/>
        </p:nvSpPr>
        <p:spPr>
          <a:xfrm>
            <a:off x="1266962" y="2397841"/>
            <a:ext cx="737841" cy="307777"/>
          </a:xfrm>
          <a:prstGeom prst="rect">
            <a:avLst/>
          </a:prstGeom>
          <a:noFill/>
        </p:spPr>
        <p:txBody>
          <a:bodyPr wrap="square" rtlCol="0">
            <a:spAutoFit/>
          </a:bodyPr>
          <a:lstStyle/>
          <a:p>
            <a:r>
              <a:rPr lang="en-US" sz="1400" b="1" dirty="0"/>
              <a:t>Logo</a:t>
            </a:r>
          </a:p>
        </p:txBody>
      </p:sp>
      <p:sp>
        <p:nvSpPr>
          <p:cNvPr id="4" name="Oval 3">
            <a:extLst>
              <a:ext uri="{FF2B5EF4-FFF2-40B4-BE49-F238E27FC236}">
                <a16:creationId xmlns:a16="http://schemas.microsoft.com/office/drawing/2014/main" id="{558D2B9C-3224-4956-B061-0E5D93156DF6}"/>
              </a:ext>
            </a:extLst>
          </p:cNvPr>
          <p:cNvSpPr/>
          <p:nvPr/>
        </p:nvSpPr>
        <p:spPr>
          <a:xfrm>
            <a:off x="10904376" y="1504229"/>
            <a:ext cx="136208" cy="136208"/>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700" dirty="0">
                <a:solidFill>
                  <a:schemeClr val="bg1">
                    <a:lumMod val="85000"/>
                  </a:schemeClr>
                </a:solidFill>
              </a:rPr>
              <a:t>6</a:t>
            </a:r>
          </a:p>
        </p:txBody>
      </p:sp>
      <p:sp>
        <p:nvSpPr>
          <p:cNvPr id="5" name="TextBox 4">
            <a:extLst>
              <a:ext uri="{FF2B5EF4-FFF2-40B4-BE49-F238E27FC236}">
                <a16:creationId xmlns:a16="http://schemas.microsoft.com/office/drawing/2014/main" id="{0E74EF76-E228-8856-58BA-56361713C442}"/>
              </a:ext>
            </a:extLst>
          </p:cNvPr>
          <p:cNvSpPr txBox="1"/>
          <p:nvPr/>
        </p:nvSpPr>
        <p:spPr>
          <a:xfrm>
            <a:off x="3039632" y="2432842"/>
            <a:ext cx="2598711" cy="246221"/>
          </a:xfrm>
          <a:prstGeom prst="rect">
            <a:avLst/>
          </a:prstGeom>
          <a:noFill/>
        </p:spPr>
        <p:txBody>
          <a:bodyPr wrap="square" rtlCol="0">
            <a:spAutoFit/>
          </a:bodyPr>
          <a:lstStyle/>
          <a:p>
            <a:r>
              <a:rPr lang="en-US" sz="1000" b="1" dirty="0"/>
              <a:t>Home | Artists | Genres | Songs | About</a:t>
            </a:r>
          </a:p>
        </p:txBody>
      </p:sp>
      <p:sp>
        <p:nvSpPr>
          <p:cNvPr id="6" name="TextBox 5">
            <a:extLst>
              <a:ext uri="{FF2B5EF4-FFF2-40B4-BE49-F238E27FC236}">
                <a16:creationId xmlns:a16="http://schemas.microsoft.com/office/drawing/2014/main" id="{33334401-6DE7-0276-743D-27CDA79D5CFC}"/>
              </a:ext>
            </a:extLst>
          </p:cNvPr>
          <p:cNvSpPr txBox="1"/>
          <p:nvPr/>
        </p:nvSpPr>
        <p:spPr>
          <a:xfrm>
            <a:off x="10375967" y="1451589"/>
            <a:ext cx="655681" cy="246221"/>
          </a:xfrm>
          <a:prstGeom prst="rect">
            <a:avLst/>
          </a:prstGeom>
          <a:noFill/>
        </p:spPr>
        <p:txBody>
          <a:bodyPr wrap="square" rtlCol="0">
            <a:spAutoFit/>
          </a:bodyPr>
          <a:lstStyle/>
          <a:p>
            <a:r>
              <a:rPr lang="en-US" sz="1000" b="1" dirty="0"/>
              <a:t>Playlist</a:t>
            </a:r>
          </a:p>
        </p:txBody>
      </p:sp>
      <p:sp>
        <p:nvSpPr>
          <p:cNvPr id="7" name="TextBox 6">
            <a:extLst>
              <a:ext uri="{FF2B5EF4-FFF2-40B4-BE49-F238E27FC236}">
                <a16:creationId xmlns:a16="http://schemas.microsoft.com/office/drawing/2014/main" id="{E34D8F68-B9EB-AA77-4F63-692A45B40F76}"/>
              </a:ext>
            </a:extLst>
          </p:cNvPr>
          <p:cNvSpPr txBox="1"/>
          <p:nvPr/>
        </p:nvSpPr>
        <p:spPr>
          <a:xfrm>
            <a:off x="3511705" y="1907721"/>
            <a:ext cx="2269969" cy="307777"/>
          </a:xfrm>
          <a:prstGeom prst="rect">
            <a:avLst/>
          </a:prstGeom>
          <a:noFill/>
        </p:spPr>
        <p:txBody>
          <a:bodyPr wrap="square" rtlCol="0">
            <a:spAutoFit/>
          </a:bodyPr>
          <a:lstStyle/>
          <a:p>
            <a:r>
              <a:rPr lang="en-US" sz="1400" b="1" dirty="0"/>
              <a:t>Header (if not logged in)</a:t>
            </a:r>
          </a:p>
        </p:txBody>
      </p:sp>
      <p:sp>
        <p:nvSpPr>
          <p:cNvPr id="8" name="Rectangle 7">
            <a:extLst>
              <a:ext uri="{FF2B5EF4-FFF2-40B4-BE49-F238E27FC236}">
                <a16:creationId xmlns:a16="http://schemas.microsoft.com/office/drawing/2014/main" id="{F815FAA5-E409-F5F4-1255-44A1CD436EF6}"/>
              </a:ext>
            </a:extLst>
          </p:cNvPr>
          <p:cNvSpPr/>
          <p:nvPr/>
        </p:nvSpPr>
        <p:spPr>
          <a:xfrm>
            <a:off x="1150672" y="5167336"/>
            <a:ext cx="6469114" cy="144654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TextBox 8">
            <a:extLst>
              <a:ext uri="{FF2B5EF4-FFF2-40B4-BE49-F238E27FC236}">
                <a16:creationId xmlns:a16="http://schemas.microsoft.com/office/drawing/2014/main" id="{836DE5AE-D681-6ACE-6AB7-C3E63B61E6B0}"/>
              </a:ext>
            </a:extLst>
          </p:cNvPr>
          <p:cNvSpPr txBox="1"/>
          <p:nvPr/>
        </p:nvSpPr>
        <p:spPr>
          <a:xfrm>
            <a:off x="3894017" y="4836409"/>
            <a:ext cx="1946734" cy="307777"/>
          </a:xfrm>
          <a:prstGeom prst="rect">
            <a:avLst/>
          </a:prstGeom>
          <a:noFill/>
        </p:spPr>
        <p:txBody>
          <a:bodyPr wrap="square" rtlCol="0">
            <a:spAutoFit/>
          </a:bodyPr>
          <a:lstStyle/>
          <a:p>
            <a:r>
              <a:rPr lang="en-US" sz="1400" b="1" dirty="0"/>
              <a:t>Footer</a:t>
            </a:r>
          </a:p>
        </p:txBody>
      </p:sp>
      <p:sp>
        <p:nvSpPr>
          <p:cNvPr id="11" name="TextBox 10">
            <a:extLst>
              <a:ext uri="{FF2B5EF4-FFF2-40B4-BE49-F238E27FC236}">
                <a16:creationId xmlns:a16="http://schemas.microsoft.com/office/drawing/2014/main" id="{31EBAC5E-9286-E87F-0EE2-3A3CE8708FD1}"/>
              </a:ext>
            </a:extLst>
          </p:cNvPr>
          <p:cNvSpPr txBox="1"/>
          <p:nvPr/>
        </p:nvSpPr>
        <p:spPr>
          <a:xfrm>
            <a:off x="3317312" y="5703302"/>
            <a:ext cx="2729192" cy="430887"/>
          </a:xfrm>
          <a:prstGeom prst="rect">
            <a:avLst/>
          </a:prstGeom>
          <a:noFill/>
        </p:spPr>
        <p:txBody>
          <a:bodyPr wrap="square" rtlCol="0">
            <a:spAutoFit/>
          </a:bodyPr>
          <a:lstStyle/>
          <a:p>
            <a:r>
              <a:rPr lang="en-US" sz="1100" i="1" dirty="0">
                <a:solidFill>
                  <a:srgbClr val="0070C0"/>
                </a:solidFill>
              </a:rPr>
              <a:t>It’s up to you what else you put into it as long as its consistent page to page. </a:t>
            </a:r>
          </a:p>
        </p:txBody>
      </p:sp>
      <p:sp>
        <p:nvSpPr>
          <p:cNvPr id="12" name="TextBox 11">
            <a:extLst>
              <a:ext uri="{FF2B5EF4-FFF2-40B4-BE49-F238E27FC236}">
                <a16:creationId xmlns:a16="http://schemas.microsoft.com/office/drawing/2014/main" id="{49C4CCF4-0A12-E250-A51A-9BD871D0EEE2}"/>
              </a:ext>
            </a:extLst>
          </p:cNvPr>
          <p:cNvSpPr txBox="1"/>
          <p:nvPr/>
        </p:nvSpPr>
        <p:spPr>
          <a:xfrm>
            <a:off x="3317312" y="5336964"/>
            <a:ext cx="2135834" cy="261610"/>
          </a:xfrm>
          <a:prstGeom prst="rect">
            <a:avLst/>
          </a:prstGeom>
          <a:noFill/>
        </p:spPr>
        <p:txBody>
          <a:bodyPr wrap="square" rtlCol="0">
            <a:spAutoFit/>
          </a:bodyPr>
          <a:lstStyle/>
          <a:p>
            <a:r>
              <a:rPr lang="en-US" sz="1100" i="1" dirty="0">
                <a:solidFill>
                  <a:srgbClr val="0070C0"/>
                </a:solidFill>
              </a:rPr>
              <a:t>Provide links to your </a:t>
            </a:r>
            <a:r>
              <a:rPr lang="en-US" sz="1100" i="1" dirty="0" err="1">
                <a:solidFill>
                  <a:srgbClr val="0070C0"/>
                </a:solidFill>
              </a:rPr>
              <a:t>github</a:t>
            </a:r>
            <a:r>
              <a:rPr lang="en-US" sz="1100" i="1" dirty="0">
                <a:solidFill>
                  <a:srgbClr val="0070C0"/>
                </a:solidFill>
              </a:rPr>
              <a:t> page.</a:t>
            </a:r>
          </a:p>
        </p:txBody>
      </p:sp>
      <p:sp>
        <p:nvSpPr>
          <p:cNvPr id="13" name="TextBox 12">
            <a:extLst>
              <a:ext uri="{FF2B5EF4-FFF2-40B4-BE49-F238E27FC236}">
                <a16:creationId xmlns:a16="http://schemas.microsoft.com/office/drawing/2014/main" id="{72BCAA93-9F57-0B9D-790D-7A8BF982AEDB}"/>
              </a:ext>
            </a:extLst>
          </p:cNvPr>
          <p:cNvSpPr txBox="1"/>
          <p:nvPr/>
        </p:nvSpPr>
        <p:spPr>
          <a:xfrm>
            <a:off x="3318056" y="1728253"/>
            <a:ext cx="2588131" cy="261610"/>
          </a:xfrm>
          <a:prstGeom prst="rect">
            <a:avLst/>
          </a:prstGeom>
          <a:noFill/>
        </p:spPr>
        <p:txBody>
          <a:bodyPr wrap="square" rtlCol="0">
            <a:spAutoFit/>
          </a:bodyPr>
          <a:lstStyle/>
          <a:p>
            <a:r>
              <a:rPr lang="en-US" sz="1100" i="1" dirty="0">
                <a:solidFill>
                  <a:srgbClr val="0070C0"/>
                </a:solidFill>
              </a:rPr>
              <a:t>All your pages will have the same header.</a:t>
            </a:r>
          </a:p>
        </p:txBody>
      </p:sp>
      <p:sp>
        <p:nvSpPr>
          <p:cNvPr id="14" name="TextBox 13">
            <a:extLst>
              <a:ext uri="{FF2B5EF4-FFF2-40B4-BE49-F238E27FC236}">
                <a16:creationId xmlns:a16="http://schemas.microsoft.com/office/drawing/2014/main" id="{585C0AF5-7A1A-BEA3-392C-3A44B881F272}"/>
              </a:ext>
            </a:extLst>
          </p:cNvPr>
          <p:cNvSpPr txBox="1"/>
          <p:nvPr/>
        </p:nvSpPr>
        <p:spPr>
          <a:xfrm>
            <a:off x="1151416" y="1728253"/>
            <a:ext cx="2360289" cy="261610"/>
          </a:xfrm>
          <a:prstGeom prst="rect">
            <a:avLst/>
          </a:prstGeom>
          <a:noFill/>
        </p:spPr>
        <p:txBody>
          <a:bodyPr wrap="square" rtlCol="0">
            <a:spAutoFit/>
          </a:bodyPr>
          <a:lstStyle/>
          <a:p>
            <a:r>
              <a:rPr lang="en-US" sz="1100" i="1" dirty="0">
                <a:solidFill>
                  <a:srgbClr val="0070C0"/>
                </a:solidFill>
              </a:rPr>
              <a:t>Display Home view when clicked</a:t>
            </a:r>
          </a:p>
        </p:txBody>
      </p:sp>
      <p:cxnSp>
        <p:nvCxnSpPr>
          <p:cNvPr id="15" name="Straight Connector 14">
            <a:extLst>
              <a:ext uri="{FF2B5EF4-FFF2-40B4-BE49-F238E27FC236}">
                <a16:creationId xmlns:a16="http://schemas.microsoft.com/office/drawing/2014/main" id="{7FB987E7-9BE7-28D5-7A81-E782BEAD6B94}"/>
              </a:ext>
            </a:extLst>
          </p:cNvPr>
          <p:cNvCxnSpPr>
            <a:cxnSpLocks/>
          </p:cNvCxnSpPr>
          <p:nvPr/>
        </p:nvCxnSpPr>
        <p:spPr>
          <a:xfrm>
            <a:off x="1359060" y="1981821"/>
            <a:ext cx="93726" cy="380045"/>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7069169-15C3-1891-CC4E-EDDB79F57115}"/>
              </a:ext>
            </a:extLst>
          </p:cNvPr>
          <p:cNvSpPr txBox="1"/>
          <p:nvPr/>
        </p:nvSpPr>
        <p:spPr>
          <a:xfrm>
            <a:off x="6674285" y="4595404"/>
            <a:ext cx="2507815" cy="430887"/>
          </a:xfrm>
          <a:prstGeom prst="rect">
            <a:avLst/>
          </a:prstGeom>
          <a:noFill/>
        </p:spPr>
        <p:txBody>
          <a:bodyPr wrap="square" rtlCol="0">
            <a:spAutoFit/>
          </a:bodyPr>
          <a:lstStyle/>
          <a:p>
            <a:r>
              <a:rPr lang="en-US" sz="1100" i="1" dirty="0">
                <a:solidFill>
                  <a:srgbClr val="0070C0"/>
                </a:solidFill>
              </a:rPr>
              <a:t>Every time a new playlist item is added or removed, update this number</a:t>
            </a:r>
          </a:p>
        </p:txBody>
      </p:sp>
      <p:sp>
        <p:nvSpPr>
          <p:cNvPr id="17" name="TextBox 16">
            <a:extLst>
              <a:ext uri="{FF2B5EF4-FFF2-40B4-BE49-F238E27FC236}">
                <a16:creationId xmlns:a16="http://schemas.microsoft.com/office/drawing/2014/main" id="{C8D7B767-5EC8-574A-404C-BD9C1FC2E5F3}"/>
              </a:ext>
            </a:extLst>
          </p:cNvPr>
          <p:cNvSpPr txBox="1"/>
          <p:nvPr/>
        </p:nvSpPr>
        <p:spPr>
          <a:xfrm>
            <a:off x="2865759" y="2813097"/>
            <a:ext cx="2588131" cy="261610"/>
          </a:xfrm>
          <a:prstGeom prst="rect">
            <a:avLst/>
          </a:prstGeom>
          <a:noFill/>
        </p:spPr>
        <p:txBody>
          <a:bodyPr wrap="square" rtlCol="0">
            <a:spAutoFit/>
          </a:bodyPr>
          <a:lstStyle/>
          <a:p>
            <a:r>
              <a:rPr lang="en-US" sz="1100" i="1" dirty="0">
                <a:solidFill>
                  <a:srgbClr val="0070C0"/>
                </a:solidFill>
              </a:rPr>
              <a:t>Provide these links to the different views.</a:t>
            </a:r>
          </a:p>
        </p:txBody>
      </p:sp>
      <p:sp>
        <p:nvSpPr>
          <p:cNvPr id="18" name="TextBox 17">
            <a:extLst>
              <a:ext uri="{FF2B5EF4-FFF2-40B4-BE49-F238E27FC236}">
                <a16:creationId xmlns:a16="http://schemas.microsoft.com/office/drawing/2014/main" id="{5BDD5828-574A-3C3B-CB4A-D7E06E2A6714}"/>
              </a:ext>
            </a:extLst>
          </p:cNvPr>
          <p:cNvSpPr txBox="1"/>
          <p:nvPr/>
        </p:nvSpPr>
        <p:spPr>
          <a:xfrm>
            <a:off x="3328878" y="6238917"/>
            <a:ext cx="2588131" cy="261610"/>
          </a:xfrm>
          <a:prstGeom prst="rect">
            <a:avLst/>
          </a:prstGeom>
          <a:noFill/>
        </p:spPr>
        <p:txBody>
          <a:bodyPr wrap="square" rtlCol="0">
            <a:spAutoFit/>
          </a:bodyPr>
          <a:lstStyle/>
          <a:p>
            <a:r>
              <a:rPr lang="en-US" sz="1100" i="1" dirty="0">
                <a:solidFill>
                  <a:srgbClr val="0070C0"/>
                </a:solidFill>
              </a:rPr>
              <a:t>All your pages will have the same footer.</a:t>
            </a:r>
          </a:p>
        </p:txBody>
      </p:sp>
      <p:sp>
        <p:nvSpPr>
          <p:cNvPr id="19" name="TextBox 18">
            <a:extLst>
              <a:ext uri="{FF2B5EF4-FFF2-40B4-BE49-F238E27FC236}">
                <a16:creationId xmlns:a16="http://schemas.microsoft.com/office/drawing/2014/main" id="{EC9DC79B-4591-4982-ACE6-A5477BD206FC}"/>
              </a:ext>
            </a:extLst>
          </p:cNvPr>
          <p:cNvSpPr txBox="1"/>
          <p:nvPr/>
        </p:nvSpPr>
        <p:spPr>
          <a:xfrm>
            <a:off x="7068368" y="2418999"/>
            <a:ext cx="497998" cy="246221"/>
          </a:xfrm>
          <a:prstGeom prst="rect">
            <a:avLst/>
          </a:prstGeom>
          <a:noFill/>
        </p:spPr>
        <p:txBody>
          <a:bodyPr wrap="square" rtlCol="0">
            <a:spAutoFit/>
          </a:bodyPr>
          <a:lstStyle/>
          <a:p>
            <a:r>
              <a:rPr lang="en-US" sz="1000" b="1" dirty="0"/>
              <a:t>Login</a:t>
            </a:r>
          </a:p>
        </p:txBody>
      </p:sp>
      <p:sp>
        <p:nvSpPr>
          <p:cNvPr id="20" name="TextBox 19">
            <a:extLst>
              <a:ext uri="{FF2B5EF4-FFF2-40B4-BE49-F238E27FC236}">
                <a16:creationId xmlns:a16="http://schemas.microsoft.com/office/drawing/2014/main" id="{1F98A4AE-E6D9-4164-B4FE-FF7179BECC56}"/>
              </a:ext>
            </a:extLst>
          </p:cNvPr>
          <p:cNvSpPr txBox="1"/>
          <p:nvPr/>
        </p:nvSpPr>
        <p:spPr>
          <a:xfrm>
            <a:off x="6285815" y="1728687"/>
            <a:ext cx="1784162" cy="430887"/>
          </a:xfrm>
          <a:prstGeom prst="rect">
            <a:avLst/>
          </a:prstGeom>
          <a:noFill/>
        </p:spPr>
        <p:txBody>
          <a:bodyPr wrap="square" rtlCol="0">
            <a:spAutoFit/>
          </a:bodyPr>
          <a:lstStyle/>
          <a:p>
            <a:r>
              <a:rPr lang="en-US" sz="1100" i="1" dirty="0">
                <a:solidFill>
                  <a:srgbClr val="0070C0"/>
                </a:solidFill>
              </a:rPr>
              <a:t>Provide a way to login or logout (if already logged in).</a:t>
            </a:r>
          </a:p>
        </p:txBody>
      </p:sp>
      <p:sp>
        <p:nvSpPr>
          <p:cNvPr id="21" name="Rectangle 20">
            <a:extLst>
              <a:ext uri="{FF2B5EF4-FFF2-40B4-BE49-F238E27FC236}">
                <a16:creationId xmlns:a16="http://schemas.microsoft.com/office/drawing/2014/main" id="{99C6B3BA-4DDA-45E6-BC0C-FB1177AC9FAD}"/>
              </a:ext>
            </a:extLst>
          </p:cNvPr>
          <p:cNvSpPr/>
          <p:nvPr/>
        </p:nvSpPr>
        <p:spPr>
          <a:xfrm>
            <a:off x="1154216" y="4029293"/>
            <a:ext cx="6469114" cy="58026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TextBox 21">
            <a:extLst>
              <a:ext uri="{FF2B5EF4-FFF2-40B4-BE49-F238E27FC236}">
                <a16:creationId xmlns:a16="http://schemas.microsoft.com/office/drawing/2014/main" id="{5E5D9C93-77F5-48F7-88BC-926E9D40450B}"/>
              </a:ext>
            </a:extLst>
          </p:cNvPr>
          <p:cNvSpPr txBox="1"/>
          <p:nvPr/>
        </p:nvSpPr>
        <p:spPr>
          <a:xfrm>
            <a:off x="1269762" y="4211636"/>
            <a:ext cx="737841" cy="307777"/>
          </a:xfrm>
          <a:prstGeom prst="rect">
            <a:avLst/>
          </a:prstGeom>
          <a:noFill/>
        </p:spPr>
        <p:txBody>
          <a:bodyPr wrap="square" rtlCol="0">
            <a:spAutoFit/>
          </a:bodyPr>
          <a:lstStyle/>
          <a:p>
            <a:r>
              <a:rPr lang="en-US" sz="1400" b="1" dirty="0"/>
              <a:t>Logo</a:t>
            </a:r>
          </a:p>
        </p:txBody>
      </p:sp>
      <p:sp>
        <p:nvSpPr>
          <p:cNvPr id="23" name="Oval 22">
            <a:extLst>
              <a:ext uri="{FF2B5EF4-FFF2-40B4-BE49-F238E27FC236}">
                <a16:creationId xmlns:a16="http://schemas.microsoft.com/office/drawing/2014/main" id="{7BA31789-C45C-4785-B462-2EE312268022}"/>
              </a:ext>
            </a:extLst>
          </p:cNvPr>
          <p:cNvSpPr/>
          <p:nvPr/>
        </p:nvSpPr>
        <p:spPr>
          <a:xfrm>
            <a:off x="6480481" y="4277837"/>
            <a:ext cx="136208" cy="136208"/>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700" dirty="0">
                <a:solidFill>
                  <a:schemeClr val="bg1">
                    <a:lumMod val="85000"/>
                  </a:schemeClr>
                </a:solidFill>
              </a:rPr>
              <a:t>6</a:t>
            </a:r>
          </a:p>
        </p:txBody>
      </p:sp>
      <p:sp>
        <p:nvSpPr>
          <p:cNvPr id="24" name="TextBox 23">
            <a:extLst>
              <a:ext uri="{FF2B5EF4-FFF2-40B4-BE49-F238E27FC236}">
                <a16:creationId xmlns:a16="http://schemas.microsoft.com/office/drawing/2014/main" id="{7C6885AA-3E4B-4AA0-A2A9-4D693AA2673A}"/>
              </a:ext>
            </a:extLst>
          </p:cNvPr>
          <p:cNvSpPr txBox="1"/>
          <p:nvPr/>
        </p:nvSpPr>
        <p:spPr>
          <a:xfrm>
            <a:off x="2457654" y="4242413"/>
            <a:ext cx="2995492" cy="246221"/>
          </a:xfrm>
          <a:prstGeom prst="rect">
            <a:avLst/>
          </a:prstGeom>
          <a:noFill/>
        </p:spPr>
        <p:txBody>
          <a:bodyPr wrap="square" rtlCol="0">
            <a:spAutoFit/>
          </a:bodyPr>
          <a:lstStyle/>
          <a:p>
            <a:r>
              <a:rPr lang="en-US" sz="1000" b="1" dirty="0"/>
              <a:t>Home | Artists | Genres | Songs | Playlists | About</a:t>
            </a:r>
          </a:p>
        </p:txBody>
      </p:sp>
      <p:sp>
        <p:nvSpPr>
          <p:cNvPr id="25" name="TextBox 24">
            <a:extLst>
              <a:ext uri="{FF2B5EF4-FFF2-40B4-BE49-F238E27FC236}">
                <a16:creationId xmlns:a16="http://schemas.microsoft.com/office/drawing/2014/main" id="{04D60239-C12D-442D-8B84-AA8859FBD27E}"/>
              </a:ext>
            </a:extLst>
          </p:cNvPr>
          <p:cNvSpPr txBox="1"/>
          <p:nvPr/>
        </p:nvSpPr>
        <p:spPr>
          <a:xfrm>
            <a:off x="5920552" y="4141140"/>
            <a:ext cx="655681" cy="400110"/>
          </a:xfrm>
          <a:prstGeom prst="rect">
            <a:avLst/>
          </a:prstGeom>
          <a:noFill/>
        </p:spPr>
        <p:txBody>
          <a:bodyPr wrap="square" rtlCol="0">
            <a:spAutoFit/>
          </a:bodyPr>
          <a:lstStyle/>
          <a:p>
            <a:r>
              <a:rPr lang="en-US" sz="1000" b="1" dirty="0"/>
              <a:t>Current Playlist </a:t>
            </a:r>
          </a:p>
        </p:txBody>
      </p:sp>
      <p:sp>
        <p:nvSpPr>
          <p:cNvPr id="26" name="TextBox 25">
            <a:extLst>
              <a:ext uri="{FF2B5EF4-FFF2-40B4-BE49-F238E27FC236}">
                <a16:creationId xmlns:a16="http://schemas.microsoft.com/office/drawing/2014/main" id="{707DD0AB-DE36-4B14-9642-BC8C7F32480E}"/>
              </a:ext>
            </a:extLst>
          </p:cNvPr>
          <p:cNvSpPr txBox="1"/>
          <p:nvPr/>
        </p:nvSpPr>
        <p:spPr>
          <a:xfrm>
            <a:off x="3368374" y="3632485"/>
            <a:ext cx="2269969" cy="307777"/>
          </a:xfrm>
          <a:prstGeom prst="rect">
            <a:avLst/>
          </a:prstGeom>
          <a:noFill/>
        </p:spPr>
        <p:txBody>
          <a:bodyPr wrap="square" rtlCol="0">
            <a:spAutoFit/>
          </a:bodyPr>
          <a:lstStyle/>
          <a:p>
            <a:r>
              <a:rPr lang="en-US" sz="1400" b="1" dirty="0"/>
              <a:t>Header (if logged in)</a:t>
            </a:r>
          </a:p>
        </p:txBody>
      </p:sp>
      <p:sp>
        <p:nvSpPr>
          <p:cNvPr id="27" name="TextBox 26">
            <a:extLst>
              <a:ext uri="{FF2B5EF4-FFF2-40B4-BE49-F238E27FC236}">
                <a16:creationId xmlns:a16="http://schemas.microsoft.com/office/drawing/2014/main" id="{2035E860-5F54-4A48-A3EE-700C34C82788}"/>
              </a:ext>
            </a:extLst>
          </p:cNvPr>
          <p:cNvSpPr txBox="1"/>
          <p:nvPr/>
        </p:nvSpPr>
        <p:spPr>
          <a:xfrm>
            <a:off x="7083195" y="4224150"/>
            <a:ext cx="655681" cy="246221"/>
          </a:xfrm>
          <a:prstGeom prst="rect">
            <a:avLst/>
          </a:prstGeom>
          <a:noFill/>
        </p:spPr>
        <p:txBody>
          <a:bodyPr wrap="square" rtlCol="0">
            <a:spAutoFit/>
          </a:bodyPr>
          <a:lstStyle/>
          <a:p>
            <a:r>
              <a:rPr lang="en-US" sz="1000" b="1" dirty="0"/>
              <a:t>Logout</a:t>
            </a:r>
          </a:p>
        </p:txBody>
      </p:sp>
      <p:cxnSp>
        <p:nvCxnSpPr>
          <p:cNvPr id="10" name="Straight Connector 9">
            <a:extLst>
              <a:ext uri="{FF2B5EF4-FFF2-40B4-BE49-F238E27FC236}">
                <a16:creationId xmlns:a16="http://schemas.microsoft.com/office/drawing/2014/main" id="{27811E2E-747B-6D8F-1637-7B8DF6F2561F}"/>
              </a:ext>
            </a:extLst>
          </p:cNvPr>
          <p:cNvCxnSpPr>
            <a:cxnSpLocks/>
          </p:cNvCxnSpPr>
          <p:nvPr/>
        </p:nvCxnSpPr>
        <p:spPr>
          <a:xfrm flipH="1" flipV="1">
            <a:off x="6585758" y="4398345"/>
            <a:ext cx="98052" cy="321394"/>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653ECAEF-1F75-250B-3FD7-8822F6D288CA}"/>
              </a:ext>
            </a:extLst>
          </p:cNvPr>
          <p:cNvSpPr txBox="1"/>
          <p:nvPr/>
        </p:nvSpPr>
        <p:spPr>
          <a:xfrm>
            <a:off x="6248392" y="3467863"/>
            <a:ext cx="2575329" cy="430887"/>
          </a:xfrm>
          <a:prstGeom prst="rect">
            <a:avLst/>
          </a:prstGeom>
          <a:noFill/>
        </p:spPr>
        <p:txBody>
          <a:bodyPr wrap="square" rtlCol="0">
            <a:spAutoFit/>
          </a:bodyPr>
          <a:lstStyle/>
          <a:p>
            <a:r>
              <a:rPr lang="en-US" sz="1100" i="1" dirty="0">
                <a:solidFill>
                  <a:srgbClr val="0070C0"/>
                </a:solidFill>
              </a:rPr>
              <a:t>This could be the name of the current playlist or maybe an icon, it’s up to you</a:t>
            </a:r>
          </a:p>
        </p:txBody>
      </p:sp>
      <p:cxnSp>
        <p:nvCxnSpPr>
          <p:cNvPr id="30" name="Straight Connector 29">
            <a:extLst>
              <a:ext uri="{FF2B5EF4-FFF2-40B4-BE49-F238E27FC236}">
                <a16:creationId xmlns:a16="http://schemas.microsoft.com/office/drawing/2014/main" id="{B00480FD-0012-DA02-5FE5-387AA06623F1}"/>
              </a:ext>
            </a:extLst>
          </p:cNvPr>
          <p:cNvCxnSpPr>
            <a:cxnSpLocks/>
          </p:cNvCxnSpPr>
          <p:nvPr/>
        </p:nvCxnSpPr>
        <p:spPr>
          <a:xfrm>
            <a:off x="6248393" y="3836340"/>
            <a:ext cx="0" cy="400110"/>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1538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8A1E3C5-8D8D-1749-4A3B-FBA3573DB211}"/>
              </a:ext>
            </a:extLst>
          </p:cNvPr>
          <p:cNvSpPr/>
          <p:nvPr/>
        </p:nvSpPr>
        <p:spPr>
          <a:xfrm>
            <a:off x="880562" y="1241880"/>
            <a:ext cx="5215438" cy="505128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Rectangle 3">
            <a:extLst>
              <a:ext uri="{FF2B5EF4-FFF2-40B4-BE49-F238E27FC236}">
                <a16:creationId xmlns:a16="http://schemas.microsoft.com/office/drawing/2014/main" id="{ADEF3D0F-23C3-4327-8EDC-9D4A5230BC57}"/>
              </a:ext>
            </a:extLst>
          </p:cNvPr>
          <p:cNvSpPr/>
          <p:nvPr/>
        </p:nvSpPr>
        <p:spPr>
          <a:xfrm rot="10800000" flipH="1" flipV="1">
            <a:off x="1130193" y="2902273"/>
            <a:ext cx="1002705" cy="7980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artist image</a:t>
            </a:r>
          </a:p>
          <a:p>
            <a:pPr algn="ctr"/>
            <a:r>
              <a:rPr lang="en-CA" sz="1000" dirty="0">
                <a:solidFill>
                  <a:schemeClr val="bg1">
                    <a:lumMod val="65000"/>
                  </a:schemeClr>
                </a:solidFill>
              </a:rPr>
              <a:t>Or </a:t>
            </a:r>
          </a:p>
          <a:p>
            <a:pPr algn="ctr"/>
            <a:r>
              <a:rPr lang="en-CA" sz="1000" dirty="0">
                <a:solidFill>
                  <a:schemeClr val="bg1">
                    <a:lumMod val="65000"/>
                  </a:schemeClr>
                </a:solidFill>
              </a:rPr>
              <a:t>placeholder</a:t>
            </a:r>
          </a:p>
          <a:p>
            <a:pPr algn="ctr"/>
            <a:endParaRPr lang="en-CA" sz="1000" dirty="0">
              <a:solidFill>
                <a:schemeClr val="bg1">
                  <a:lumMod val="65000"/>
                </a:schemeClr>
              </a:solidFill>
            </a:endParaRPr>
          </a:p>
        </p:txBody>
      </p:sp>
      <p:sp>
        <p:nvSpPr>
          <p:cNvPr id="5" name="Rectangle 4">
            <a:extLst>
              <a:ext uri="{FF2B5EF4-FFF2-40B4-BE49-F238E27FC236}">
                <a16:creationId xmlns:a16="http://schemas.microsoft.com/office/drawing/2014/main" id="{FF87083A-534E-5F6B-CD9A-0D39A2D772D8}"/>
              </a:ext>
            </a:extLst>
          </p:cNvPr>
          <p:cNvSpPr/>
          <p:nvPr/>
        </p:nvSpPr>
        <p:spPr>
          <a:xfrm rot="10800000" flipH="1" flipV="1">
            <a:off x="2305361" y="2902273"/>
            <a:ext cx="1002705" cy="7980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artist image</a:t>
            </a:r>
          </a:p>
          <a:p>
            <a:pPr algn="ctr"/>
            <a:r>
              <a:rPr lang="en-CA" sz="1000" dirty="0">
                <a:solidFill>
                  <a:schemeClr val="bg1">
                    <a:lumMod val="65000"/>
                  </a:schemeClr>
                </a:solidFill>
              </a:rPr>
              <a:t>Or </a:t>
            </a:r>
          </a:p>
          <a:p>
            <a:pPr algn="ctr"/>
            <a:r>
              <a:rPr lang="en-CA" sz="1000" dirty="0">
                <a:solidFill>
                  <a:schemeClr val="bg1">
                    <a:lumMod val="65000"/>
                  </a:schemeClr>
                </a:solidFill>
              </a:rPr>
              <a:t>placeholder</a:t>
            </a:r>
          </a:p>
          <a:p>
            <a:pPr algn="ctr"/>
            <a:endParaRPr lang="en-CA" sz="1000" dirty="0">
              <a:solidFill>
                <a:schemeClr val="bg1">
                  <a:lumMod val="65000"/>
                </a:schemeClr>
              </a:solidFill>
            </a:endParaRPr>
          </a:p>
        </p:txBody>
      </p:sp>
      <p:sp>
        <p:nvSpPr>
          <p:cNvPr id="6" name="Rectangle 5">
            <a:extLst>
              <a:ext uri="{FF2B5EF4-FFF2-40B4-BE49-F238E27FC236}">
                <a16:creationId xmlns:a16="http://schemas.microsoft.com/office/drawing/2014/main" id="{778D71F2-D69B-B5ED-FECA-CFD9B9F65FC7}"/>
              </a:ext>
            </a:extLst>
          </p:cNvPr>
          <p:cNvSpPr/>
          <p:nvPr/>
        </p:nvSpPr>
        <p:spPr>
          <a:xfrm rot="10800000" flipH="1" flipV="1">
            <a:off x="3493569" y="2911187"/>
            <a:ext cx="1002705" cy="7980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artist image</a:t>
            </a:r>
          </a:p>
          <a:p>
            <a:pPr algn="ctr"/>
            <a:r>
              <a:rPr lang="en-CA" sz="1000" dirty="0">
                <a:solidFill>
                  <a:schemeClr val="bg1">
                    <a:lumMod val="65000"/>
                  </a:schemeClr>
                </a:solidFill>
              </a:rPr>
              <a:t>Or </a:t>
            </a:r>
          </a:p>
          <a:p>
            <a:pPr algn="ctr"/>
            <a:r>
              <a:rPr lang="en-CA" sz="1000" dirty="0">
                <a:solidFill>
                  <a:schemeClr val="bg1">
                    <a:lumMod val="65000"/>
                  </a:schemeClr>
                </a:solidFill>
              </a:rPr>
              <a:t>placeholder</a:t>
            </a:r>
          </a:p>
          <a:p>
            <a:pPr algn="ctr"/>
            <a:endParaRPr lang="en-CA" sz="1000" dirty="0">
              <a:solidFill>
                <a:schemeClr val="bg1">
                  <a:lumMod val="65000"/>
                </a:schemeClr>
              </a:solidFill>
            </a:endParaRPr>
          </a:p>
        </p:txBody>
      </p:sp>
      <p:sp>
        <p:nvSpPr>
          <p:cNvPr id="7" name="TextBox 6">
            <a:extLst>
              <a:ext uri="{FF2B5EF4-FFF2-40B4-BE49-F238E27FC236}">
                <a16:creationId xmlns:a16="http://schemas.microsoft.com/office/drawing/2014/main" id="{713EEB6C-E024-EE34-D1F0-43CF0E4E861B}"/>
              </a:ext>
            </a:extLst>
          </p:cNvPr>
          <p:cNvSpPr txBox="1"/>
          <p:nvPr/>
        </p:nvSpPr>
        <p:spPr>
          <a:xfrm>
            <a:off x="1127123" y="3728451"/>
            <a:ext cx="992735" cy="246221"/>
          </a:xfrm>
          <a:prstGeom prst="rect">
            <a:avLst/>
          </a:prstGeom>
          <a:noFill/>
        </p:spPr>
        <p:txBody>
          <a:bodyPr wrap="square" rtlCol="0">
            <a:spAutoFit/>
          </a:bodyPr>
          <a:lstStyle/>
          <a:p>
            <a:pPr algn="ctr"/>
            <a:r>
              <a:rPr lang="en-US" sz="1000" dirty="0"/>
              <a:t>Name</a:t>
            </a:r>
          </a:p>
        </p:txBody>
      </p:sp>
      <p:sp>
        <p:nvSpPr>
          <p:cNvPr id="16" name="Rectangle 15">
            <a:extLst>
              <a:ext uri="{FF2B5EF4-FFF2-40B4-BE49-F238E27FC236}">
                <a16:creationId xmlns:a16="http://schemas.microsoft.com/office/drawing/2014/main" id="{22B167E5-87F5-9DCD-BF1F-05802B776964}"/>
              </a:ext>
            </a:extLst>
          </p:cNvPr>
          <p:cNvSpPr/>
          <p:nvPr/>
        </p:nvSpPr>
        <p:spPr>
          <a:xfrm>
            <a:off x="1018903" y="1375874"/>
            <a:ext cx="4885508" cy="13917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0962E7E7-D04D-F147-6827-420A99FA92FF}"/>
              </a:ext>
            </a:extLst>
          </p:cNvPr>
          <p:cNvSpPr txBox="1"/>
          <p:nvPr/>
        </p:nvSpPr>
        <p:spPr>
          <a:xfrm>
            <a:off x="2306091" y="1848161"/>
            <a:ext cx="2535874" cy="276999"/>
          </a:xfrm>
          <a:prstGeom prst="rect">
            <a:avLst/>
          </a:prstGeom>
          <a:noFill/>
        </p:spPr>
        <p:txBody>
          <a:bodyPr wrap="square" rtlCol="0">
            <a:spAutoFit/>
          </a:bodyPr>
          <a:lstStyle/>
          <a:p>
            <a:r>
              <a:rPr lang="en-US" sz="1200" b="1" dirty="0"/>
              <a:t>Hero image + list of artists or genres</a:t>
            </a:r>
          </a:p>
        </p:txBody>
      </p:sp>
      <p:sp>
        <p:nvSpPr>
          <p:cNvPr id="18" name="TextBox 17">
            <a:extLst>
              <a:ext uri="{FF2B5EF4-FFF2-40B4-BE49-F238E27FC236}">
                <a16:creationId xmlns:a16="http://schemas.microsoft.com/office/drawing/2014/main" id="{54F8B5D1-58F9-3789-093B-1159B4A9C9BA}"/>
              </a:ext>
            </a:extLst>
          </p:cNvPr>
          <p:cNvSpPr txBox="1"/>
          <p:nvPr/>
        </p:nvSpPr>
        <p:spPr>
          <a:xfrm>
            <a:off x="2316866" y="3736100"/>
            <a:ext cx="992735" cy="246221"/>
          </a:xfrm>
          <a:prstGeom prst="rect">
            <a:avLst/>
          </a:prstGeom>
          <a:noFill/>
        </p:spPr>
        <p:txBody>
          <a:bodyPr wrap="square" rtlCol="0">
            <a:spAutoFit/>
          </a:bodyPr>
          <a:lstStyle/>
          <a:p>
            <a:pPr algn="ctr"/>
            <a:r>
              <a:rPr lang="en-US" sz="1000" dirty="0"/>
              <a:t>Name</a:t>
            </a:r>
          </a:p>
        </p:txBody>
      </p:sp>
      <p:sp>
        <p:nvSpPr>
          <p:cNvPr id="19" name="TextBox 18">
            <a:extLst>
              <a:ext uri="{FF2B5EF4-FFF2-40B4-BE49-F238E27FC236}">
                <a16:creationId xmlns:a16="http://schemas.microsoft.com/office/drawing/2014/main" id="{CB7E8856-8629-2104-5113-82ABAF3C3653}"/>
              </a:ext>
            </a:extLst>
          </p:cNvPr>
          <p:cNvSpPr txBox="1"/>
          <p:nvPr/>
        </p:nvSpPr>
        <p:spPr>
          <a:xfrm>
            <a:off x="3503539" y="3742240"/>
            <a:ext cx="992735" cy="246221"/>
          </a:xfrm>
          <a:prstGeom prst="rect">
            <a:avLst/>
          </a:prstGeom>
          <a:noFill/>
        </p:spPr>
        <p:txBody>
          <a:bodyPr wrap="square" rtlCol="0">
            <a:spAutoFit/>
          </a:bodyPr>
          <a:lstStyle/>
          <a:p>
            <a:pPr algn="ctr"/>
            <a:r>
              <a:rPr lang="en-US" sz="1000" dirty="0"/>
              <a:t>Name</a:t>
            </a:r>
          </a:p>
        </p:txBody>
      </p:sp>
      <p:sp>
        <p:nvSpPr>
          <p:cNvPr id="20" name="Rectangle 19">
            <a:extLst>
              <a:ext uri="{FF2B5EF4-FFF2-40B4-BE49-F238E27FC236}">
                <a16:creationId xmlns:a16="http://schemas.microsoft.com/office/drawing/2014/main" id="{2814C80F-DEA6-A156-9386-7DDE5E4298BC}"/>
              </a:ext>
            </a:extLst>
          </p:cNvPr>
          <p:cNvSpPr/>
          <p:nvPr/>
        </p:nvSpPr>
        <p:spPr>
          <a:xfrm rot="10800000" flipH="1" flipV="1">
            <a:off x="4678174" y="2911187"/>
            <a:ext cx="1002705" cy="7980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artist image</a:t>
            </a:r>
          </a:p>
          <a:p>
            <a:pPr algn="ctr"/>
            <a:r>
              <a:rPr lang="en-CA" sz="1000" dirty="0">
                <a:solidFill>
                  <a:schemeClr val="bg1">
                    <a:lumMod val="65000"/>
                  </a:schemeClr>
                </a:solidFill>
              </a:rPr>
              <a:t>Or </a:t>
            </a:r>
          </a:p>
          <a:p>
            <a:pPr algn="ctr"/>
            <a:r>
              <a:rPr lang="en-CA" sz="1000" dirty="0">
                <a:solidFill>
                  <a:schemeClr val="bg1">
                    <a:lumMod val="65000"/>
                  </a:schemeClr>
                </a:solidFill>
              </a:rPr>
              <a:t>placeholder</a:t>
            </a:r>
          </a:p>
          <a:p>
            <a:pPr algn="ctr"/>
            <a:endParaRPr lang="en-CA" sz="1000" dirty="0">
              <a:solidFill>
                <a:schemeClr val="bg1">
                  <a:lumMod val="65000"/>
                </a:schemeClr>
              </a:solidFill>
            </a:endParaRPr>
          </a:p>
        </p:txBody>
      </p:sp>
      <p:sp>
        <p:nvSpPr>
          <p:cNvPr id="21" name="TextBox 20">
            <a:extLst>
              <a:ext uri="{FF2B5EF4-FFF2-40B4-BE49-F238E27FC236}">
                <a16:creationId xmlns:a16="http://schemas.microsoft.com/office/drawing/2014/main" id="{7FEABC42-3602-7780-93D6-C9CEA9C5C10F}"/>
              </a:ext>
            </a:extLst>
          </p:cNvPr>
          <p:cNvSpPr txBox="1"/>
          <p:nvPr/>
        </p:nvSpPr>
        <p:spPr>
          <a:xfrm>
            <a:off x="4688144" y="3742240"/>
            <a:ext cx="992735" cy="246221"/>
          </a:xfrm>
          <a:prstGeom prst="rect">
            <a:avLst/>
          </a:prstGeom>
          <a:noFill/>
        </p:spPr>
        <p:txBody>
          <a:bodyPr wrap="square" rtlCol="0">
            <a:spAutoFit/>
          </a:bodyPr>
          <a:lstStyle/>
          <a:p>
            <a:pPr algn="ctr"/>
            <a:r>
              <a:rPr lang="en-US" sz="1000" dirty="0"/>
              <a:t>Name</a:t>
            </a:r>
          </a:p>
        </p:txBody>
      </p:sp>
      <p:cxnSp>
        <p:nvCxnSpPr>
          <p:cNvPr id="8" name="Straight Connector 7">
            <a:extLst>
              <a:ext uri="{FF2B5EF4-FFF2-40B4-BE49-F238E27FC236}">
                <a16:creationId xmlns:a16="http://schemas.microsoft.com/office/drawing/2014/main" id="{57DD9CA4-2BD9-D910-240A-05189C75336D}"/>
              </a:ext>
            </a:extLst>
          </p:cNvPr>
          <p:cNvCxnSpPr>
            <a:cxnSpLocks/>
          </p:cNvCxnSpPr>
          <p:nvPr/>
        </p:nvCxnSpPr>
        <p:spPr>
          <a:xfrm flipV="1">
            <a:off x="6268928" y="2125160"/>
            <a:ext cx="0" cy="3257397"/>
          </a:xfrm>
          <a:prstGeom prst="line">
            <a:avLst/>
          </a:prstGeom>
          <a:ln w="9525"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 name="TextBox 8">
            <a:extLst>
              <a:ext uri="{FF2B5EF4-FFF2-40B4-BE49-F238E27FC236}">
                <a16:creationId xmlns:a16="http://schemas.microsoft.com/office/drawing/2014/main" id="{02C0493D-8AC4-700A-6020-DC72D12C5392}"/>
              </a:ext>
            </a:extLst>
          </p:cNvPr>
          <p:cNvSpPr txBox="1"/>
          <p:nvPr/>
        </p:nvSpPr>
        <p:spPr>
          <a:xfrm>
            <a:off x="6342561" y="3291403"/>
            <a:ext cx="2135834" cy="1954381"/>
          </a:xfrm>
          <a:prstGeom prst="rect">
            <a:avLst/>
          </a:prstGeom>
          <a:noFill/>
        </p:spPr>
        <p:txBody>
          <a:bodyPr wrap="square" rtlCol="0">
            <a:spAutoFit/>
          </a:bodyPr>
          <a:lstStyle/>
          <a:p>
            <a:r>
              <a:rPr lang="en-US" sz="1100" i="1" dirty="0">
                <a:solidFill>
                  <a:srgbClr val="0070C0"/>
                </a:solidFill>
              </a:rPr>
              <a:t>There are lots of ways of visually displaying this information. I’d encourage you to take a look at online stores for ideas.</a:t>
            </a:r>
          </a:p>
          <a:p>
            <a:endParaRPr lang="en-US" sz="1100" i="1" dirty="0">
              <a:solidFill>
                <a:srgbClr val="0070C0"/>
              </a:solidFill>
            </a:endParaRPr>
          </a:p>
          <a:p>
            <a:r>
              <a:rPr lang="en-US" sz="1100" i="1" dirty="0">
                <a:solidFill>
                  <a:srgbClr val="0070C0"/>
                </a:solidFill>
              </a:rPr>
              <a:t>For the artists, you can display the artist image. For the genres, you’ll likely need some type of placeholder service or use some type of AI generator.</a:t>
            </a:r>
          </a:p>
          <a:p>
            <a:endParaRPr lang="en-US" sz="1100" i="1" dirty="0">
              <a:solidFill>
                <a:srgbClr val="0070C0"/>
              </a:solidFill>
            </a:endParaRPr>
          </a:p>
        </p:txBody>
      </p:sp>
      <p:sp>
        <p:nvSpPr>
          <p:cNvPr id="2" name="Rectangle 1">
            <a:extLst>
              <a:ext uri="{FF2B5EF4-FFF2-40B4-BE49-F238E27FC236}">
                <a16:creationId xmlns:a16="http://schemas.microsoft.com/office/drawing/2014/main" id="{A23E9E17-09C7-A134-2C75-83B82E0756C5}"/>
              </a:ext>
            </a:extLst>
          </p:cNvPr>
          <p:cNvSpPr/>
          <p:nvPr/>
        </p:nvSpPr>
        <p:spPr>
          <a:xfrm rot="10800000" flipH="1" flipV="1">
            <a:off x="1120223" y="4018091"/>
            <a:ext cx="1002705" cy="7980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artist image</a:t>
            </a:r>
          </a:p>
          <a:p>
            <a:pPr algn="ctr"/>
            <a:r>
              <a:rPr lang="en-CA" sz="1000" dirty="0">
                <a:solidFill>
                  <a:schemeClr val="bg1">
                    <a:lumMod val="65000"/>
                  </a:schemeClr>
                </a:solidFill>
              </a:rPr>
              <a:t>Or </a:t>
            </a:r>
          </a:p>
          <a:p>
            <a:pPr algn="ctr"/>
            <a:r>
              <a:rPr lang="en-CA" sz="1000" dirty="0">
                <a:solidFill>
                  <a:schemeClr val="bg1">
                    <a:lumMod val="65000"/>
                  </a:schemeClr>
                </a:solidFill>
              </a:rPr>
              <a:t>placeholder</a:t>
            </a:r>
          </a:p>
          <a:p>
            <a:pPr algn="ctr"/>
            <a:endParaRPr lang="en-CA" sz="1000" dirty="0">
              <a:solidFill>
                <a:schemeClr val="bg1">
                  <a:lumMod val="65000"/>
                </a:schemeClr>
              </a:solidFill>
            </a:endParaRPr>
          </a:p>
        </p:txBody>
      </p:sp>
      <p:sp>
        <p:nvSpPr>
          <p:cNvPr id="10" name="Rectangle 9">
            <a:extLst>
              <a:ext uri="{FF2B5EF4-FFF2-40B4-BE49-F238E27FC236}">
                <a16:creationId xmlns:a16="http://schemas.microsoft.com/office/drawing/2014/main" id="{96E9DC4D-01A8-D514-A7BB-C7438ED6438F}"/>
              </a:ext>
            </a:extLst>
          </p:cNvPr>
          <p:cNvSpPr/>
          <p:nvPr/>
        </p:nvSpPr>
        <p:spPr>
          <a:xfrm rot="10800000" flipH="1" flipV="1">
            <a:off x="2295391" y="4018091"/>
            <a:ext cx="1002705" cy="7980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artist image</a:t>
            </a:r>
          </a:p>
          <a:p>
            <a:pPr algn="ctr"/>
            <a:r>
              <a:rPr lang="en-CA" sz="1000" dirty="0">
                <a:solidFill>
                  <a:schemeClr val="bg1">
                    <a:lumMod val="65000"/>
                  </a:schemeClr>
                </a:solidFill>
              </a:rPr>
              <a:t>Or </a:t>
            </a:r>
          </a:p>
          <a:p>
            <a:pPr algn="ctr"/>
            <a:r>
              <a:rPr lang="en-CA" sz="1000" dirty="0">
                <a:solidFill>
                  <a:schemeClr val="bg1">
                    <a:lumMod val="65000"/>
                  </a:schemeClr>
                </a:solidFill>
              </a:rPr>
              <a:t>placeholder</a:t>
            </a:r>
          </a:p>
          <a:p>
            <a:pPr algn="ctr"/>
            <a:endParaRPr lang="en-CA" sz="1000" dirty="0">
              <a:solidFill>
                <a:schemeClr val="bg1">
                  <a:lumMod val="65000"/>
                </a:schemeClr>
              </a:solidFill>
            </a:endParaRPr>
          </a:p>
        </p:txBody>
      </p:sp>
      <p:sp>
        <p:nvSpPr>
          <p:cNvPr id="11" name="Rectangle 10">
            <a:extLst>
              <a:ext uri="{FF2B5EF4-FFF2-40B4-BE49-F238E27FC236}">
                <a16:creationId xmlns:a16="http://schemas.microsoft.com/office/drawing/2014/main" id="{C5410D77-F727-F081-87D9-0C71C247A02A}"/>
              </a:ext>
            </a:extLst>
          </p:cNvPr>
          <p:cNvSpPr/>
          <p:nvPr/>
        </p:nvSpPr>
        <p:spPr>
          <a:xfrm rot="10800000" flipH="1" flipV="1">
            <a:off x="3483599" y="4027005"/>
            <a:ext cx="1002705" cy="7980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artist image</a:t>
            </a:r>
          </a:p>
          <a:p>
            <a:pPr algn="ctr"/>
            <a:r>
              <a:rPr lang="en-CA" sz="1000" dirty="0">
                <a:solidFill>
                  <a:schemeClr val="bg1">
                    <a:lumMod val="65000"/>
                  </a:schemeClr>
                </a:solidFill>
              </a:rPr>
              <a:t>Or </a:t>
            </a:r>
          </a:p>
          <a:p>
            <a:pPr algn="ctr"/>
            <a:r>
              <a:rPr lang="en-CA" sz="1000" dirty="0">
                <a:solidFill>
                  <a:schemeClr val="bg1">
                    <a:lumMod val="65000"/>
                  </a:schemeClr>
                </a:solidFill>
              </a:rPr>
              <a:t>placeholder</a:t>
            </a:r>
          </a:p>
          <a:p>
            <a:pPr algn="ctr"/>
            <a:endParaRPr lang="en-CA" sz="1000" dirty="0">
              <a:solidFill>
                <a:schemeClr val="bg1">
                  <a:lumMod val="65000"/>
                </a:schemeClr>
              </a:solidFill>
            </a:endParaRPr>
          </a:p>
        </p:txBody>
      </p:sp>
      <p:sp>
        <p:nvSpPr>
          <p:cNvPr id="12" name="TextBox 11">
            <a:extLst>
              <a:ext uri="{FF2B5EF4-FFF2-40B4-BE49-F238E27FC236}">
                <a16:creationId xmlns:a16="http://schemas.microsoft.com/office/drawing/2014/main" id="{3BB666D0-CB40-0C2C-9E69-48EFFBA0AC15}"/>
              </a:ext>
            </a:extLst>
          </p:cNvPr>
          <p:cNvSpPr txBox="1"/>
          <p:nvPr/>
        </p:nvSpPr>
        <p:spPr>
          <a:xfrm>
            <a:off x="1117153" y="4844269"/>
            <a:ext cx="992735" cy="246221"/>
          </a:xfrm>
          <a:prstGeom prst="rect">
            <a:avLst/>
          </a:prstGeom>
          <a:noFill/>
        </p:spPr>
        <p:txBody>
          <a:bodyPr wrap="square" rtlCol="0">
            <a:spAutoFit/>
          </a:bodyPr>
          <a:lstStyle/>
          <a:p>
            <a:pPr algn="ctr"/>
            <a:r>
              <a:rPr lang="en-US" sz="1000" dirty="0"/>
              <a:t>Name</a:t>
            </a:r>
          </a:p>
        </p:txBody>
      </p:sp>
      <p:sp>
        <p:nvSpPr>
          <p:cNvPr id="13" name="TextBox 12">
            <a:extLst>
              <a:ext uri="{FF2B5EF4-FFF2-40B4-BE49-F238E27FC236}">
                <a16:creationId xmlns:a16="http://schemas.microsoft.com/office/drawing/2014/main" id="{B90E8DCC-5F87-296B-B503-EF9F7159B0BE}"/>
              </a:ext>
            </a:extLst>
          </p:cNvPr>
          <p:cNvSpPr txBox="1"/>
          <p:nvPr/>
        </p:nvSpPr>
        <p:spPr>
          <a:xfrm>
            <a:off x="2306896" y="4851918"/>
            <a:ext cx="992735" cy="246221"/>
          </a:xfrm>
          <a:prstGeom prst="rect">
            <a:avLst/>
          </a:prstGeom>
          <a:noFill/>
        </p:spPr>
        <p:txBody>
          <a:bodyPr wrap="square" rtlCol="0">
            <a:spAutoFit/>
          </a:bodyPr>
          <a:lstStyle/>
          <a:p>
            <a:pPr algn="ctr"/>
            <a:r>
              <a:rPr lang="en-US" sz="1000" dirty="0"/>
              <a:t>Name</a:t>
            </a:r>
          </a:p>
        </p:txBody>
      </p:sp>
      <p:sp>
        <p:nvSpPr>
          <p:cNvPr id="14" name="TextBox 13">
            <a:extLst>
              <a:ext uri="{FF2B5EF4-FFF2-40B4-BE49-F238E27FC236}">
                <a16:creationId xmlns:a16="http://schemas.microsoft.com/office/drawing/2014/main" id="{2DF6C3B6-4B0F-13A8-F498-A9A538100F28}"/>
              </a:ext>
            </a:extLst>
          </p:cNvPr>
          <p:cNvSpPr txBox="1"/>
          <p:nvPr/>
        </p:nvSpPr>
        <p:spPr>
          <a:xfrm>
            <a:off x="3493569" y="4858058"/>
            <a:ext cx="992735" cy="246221"/>
          </a:xfrm>
          <a:prstGeom prst="rect">
            <a:avLst/>
          </a:prstGeom>
          <a:noFill/>
        </p:spPr>
        <p:txBody>
          <a:bodyPr wrap="square" rtlCol="0">
            <a:spAutoFit/>
          </a:bodyPr>
          <a:lstStyle/>
          <a:p>
            <a:pPr algn="ctr"/>
            <a:r>
              <a:rPr lang="en-US" sz="1000" dirty="0"/>
              <a:t>Name</a:t>
            </a:r>
          </a:p>
        </p:txBody>
      </p:sp>
      <p:sp>
        <p:nvSpPr>
          <p:cNvPr id="15" name="Rectangle 14">
            <a:extLst>
              <a:ext uri="{FF2B5EF4-FFF2-40B4-BE49-F238E27FC236}">
                <a16:creationId xmlns:a16="http://schemas.microsoft.com/office/drawing/2014/main" id="{ED83208B-91F1-EA79-18BA-4A3664E3C539}"/>
              </a:ext>
            </a:extLst>
          </p:cNvPr>
          <p:cNvSpPr/>
          <p:nvPr/>
        </p:nvSpPr>
        <p:spPr>
          <a:xfrm rot="10800000" flipH="1" flipV="1">
            <a:off x="4668204" y="4027005"/>
            <a:ext cx="1002705" cy="7980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artist image</a:t>
            </a:r>
          </a:p>
          <a:p>
            <a:pPr algn="ctr"/>
            <a:r>
              <a:rPr lang="en-CA" sz="1000" dirty="0">
                <a:solidFill>
                  <a:schemeClr val="bg1">
                    <a:lumMod val="65000"/>
                  </a:schemeClr>
                </a:solidFill>
              </a:rPr>
              <a:t>Or </a:t>
            </a:r>
          </a:p>
          <a:p>
            <a:pPr algn="ctr"/>
            <a:r>
              <a:rPr lang="en-CA" sz="1000" dirty="0">
                <a:solidFill>
                  <a:schemeClr val="bg1">
                    <a:lumMod val="65000"/>
                  </a:schemeClr>
                </a:solidFill>
              </a:rPr>
              <a:t>placeholder</a:t>
            </a:r>
          </a:p>
          <a:p>
            <a:pPr algn="ctr"/>
            <a:endParaRPr lang="en-CA" sz="1000" dirty="0">
              <a:solidFill>
                <a:schemeClr val="bg1">
                  <a:lumMod val="65000"/>
                </a:schemeClr>
              </a:solidFill>
            </a:endParaRPr>
          </a:p>
        </p:txBody>
      </p:sp>
      <p:sp>
        <p:nvSpPr>
          <p:cNvPr id="30" name="TextBox 29">
            <a:extLst>
              <a:ext uri="{FF2B5EF4-FFF2-40B4-BE49-F238E27FC236}">
                <a16:creationId xmlns:a16="http://schemas.microsoft.com/office/drawing/2014/main" id="{09C7613A-E88C-DDCD-1B5C-AE1234D88A33}"/>
              </a:ext>
            </a:extLst>
          </p:cNvPr>
          <p:cNvSpPr txBox="1"/>
          <p:nvPr/>
        </p:nvSpPr>
        <p:spPr>
          <a:xfrm>
            <a:off x="4678174" y="4858058"/>
            <a:ext cx="992735" cy="246221"/>
          </a:xfrm>
          <a:prstGeom prst="rect">
            <a:avLst/>
          </a:prstGeom>
          <a:noFill/>
        </p:spPr>
        <p:txBody>
          <a:bodyPr wrap="square" rtlCol="0">
            <a:spAutoFit/>
          </a:bodyPr>
          <a:lstStyle/>
          <a:p>
            <a:pPr algn="ctr"/>
            <a:r>
              <a:rPr lang="en-US" sz="1000" dirty="0"/>
              <a:t>Name</a:t>
            </a:r>
          </a:p>
        </p:txBody>
      </p:sp>
      <p:sp>
        <p:nvSpPr>
          <p:cNvPr id="31" name="Rectangle 30">
            <a:extLst>
              <a:ext uri="{FF2B5EF4-FFF2-40B4-BE49-F238E27FC236}">
                <a16:creationId xmlns:a16="http://schemas.microsoft.com/office/drawing/2014/main" id="{7535167F-05B8-9EE6-CAEF-64B440D66DEE}"/>
              </a:ext>
            </a:extLst>
          </p:cNvPr>
          <p:cNvSpPr/>
          <p:nvPr/>
        </p:nvSpPr>
        <p:spPr>
          <a:xfrm rot="10800000" flipH="1" flipV="1">
            <a:off x="1130193" y="5180126"/>
            <a:ext cx="1002705" cy="7980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artist image</a:t>
            </a:r>
          </a:p>
          <a:p>
            <a:pPr algn="ctr"/>
            <a:r>
              <a:rPr lang="en-CA" sz="1000" dirty="0">
                <a:solidFill>
                  <a:schemeClr val="bg1">
                    <a:lumMod val="65000"/>
                  </a:schemeClr>
                </a:solidFill>
              </a:rPr>
              <a:t>Or </a:t>
            </a:r>
          </a:p>
          <a:p>
            <a:pPr algn="ctr"/>
            <a:r>
              <a:rPr lang="en-CA" sz="1000" dirty="0">
                <a:solidFill>
                  <a:schemeClr val="bg1">
                    <a:lumMod val="65000"/>
                  </a:schemeClr>
                </a:solidFill>
              </a:rPr>
              <a:t>placeholder</a:t>
            </a:r>
          </a:p>
          <a:p>
            <a:pPr algn="ctr"/>
            <a:endParaRPr lang="en-CA" sz="1000" dirty="0">
              <a:solidFill>
                <a:schemeClr val="bg1">
                  <a:lumMod val="65000"/>
                </a:schemeClr>
              </a:solidFill>
            </a:endParaRPr>
          </a:p>
        </p:txBody>
      </p:sp>
      <p:sp>
        <p:nvSpPr>
          <p:cNvPr id="32" name="Rectangle 31">
            <a:extLst>
              <a:ext uri="{FF2B5EF4-FFF2-40B4-BE49-F238E27FC236}">
                <a16:creationId xmlns:a16="http://schemas.microsoft.com/office/drawing/2014/main" id="{8AF0E3A3-0258-1143-D5D5-6FDF162DAE93}"/>
              </a:ext>
            </a:extLst>
          </p:cNvPr>
          <p:cNvSpPr/>
          <p:nvPr/>
        </p:nvSpPr>
        <p:spPr>
          <a:xfrm rot="10800000" flipH="1" flipV="1">
            <a:off x="2305361" y="5180126"/>
            <a:ext cx="1002705" cy="7980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artist image</a:t>
            </a:r>
          </a:p>
          <a:p>
            <a:pPr algn="ctr"/>
            <a:r>
              <a:rPr lang="en-CA" sz="1000" dirty="0">
                <a:solidFill>
                  <a:schemeClr val="bg1">
                    <a:lumMod val="65000"/>
                  </a:schemeClr>
                </a:solidFill>
              </a:rPr>
              <a:t>Or </a:t>
            </a:r>
          </a:p>
          <a:p>
            <a:pPr algn="ctr"/>
            <a:r>
              <a:rPr lang="en-CA" sz="1000" dirty="0">
                <a:solidFill>
                  <a:schemeClr val="bg1">
                    <a:lumMod val="65000"/>
                  </a:schemeClr>
                </a:solidFill>
              </a:rPr>
              <a:t>placeholder</a:t>
            </a:r>
          </a:p>
          <a:p>
            <a:pPr algn="ctr"/>
            <a:endParaRPr lang="en-CA" sz="1000" dirty="0">
              <a:solidFill>
                <a:schemeClr val="bg1">
                  <a:lumMod val="65000"/>
                </a:schemeClr>
              </a:solidFill>
            </a:endParaRPr>
          </a:p>
        </p:txBody>
      </p:sp>
      <p:sp>
        <p:nvSpPr>
          <p:cNvPr id="33" name="Rectangle 32">
            <a:extLst>
              <a:ext uri="{FF2B5EF4-FFF2-40B4-BE49-F238E27FC236}">
                <a16:creationId xmlns:a16="http://schemas.microsoft.com/office/drawing/2014/main" id="{E61E071E-458C-8849-4824-76CE430B7CEA}"/>
              </a:ext>
            </a:extLst>
          </p:cNvPr>
          <p:cNvSpPr/>
          <p:nvPr/>
        </p:nvSpPr>
        <p:spPr>
          <a:xfrm rot="10800000" flipH="1" flipV="1">
            <a:off x="3493569" y="5189040"/>
            <a:ext cx="1002705" cy="7980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artist image</a:t>
            </a:r>
          </a:p>
          <a:p>
            <a:pPr algn="ctr"/>
            <a:r>
              <a:rPr lang="en-CA" sz="1000" dirty="0">
                <a:solidFill>
                  <a:schemeClr val="bg1">
                    <a:lumMod val="65000"/>
                  </a:schemeClr>
                </a:solidFill>
              </a:rPr>
              <a:t>Or </a:t>
            </a:r>
          </a:p>
          <a:p>
            <a:pPr algn="ctr"/>
            <a:r>
              <a:rPr lang="en-CA" sz="1000" dirty="0">
                <a:solidFill>
                  <a:schemeClr val="bg1">
                    <a:lumMod val="65000"/>
                  </a:schemeClr>
                </a:solidFill>
              </a:rPr>
              <a:t>placeholder</a:t>
            </a:r>
          </a:p>
          <a:p>
            <a:pPr algn="ctr"/>
            <a:endParaRPr lang="en-CA" sz="1000" dirty="0">
              <a:solidFill>
                <a:schemeClr val="bg1">
                  <a:lumMod val="65000"/>
                </a:schemeClr>
              </a:solidFill>
            </a:endParaRPr>
          </a:p>
        </p:txBody>
      </p:sp>
      <p:sp>
        <p:nvSpPr>
          <p:cNvPr id="34" name="TextBox 33">
            <a:extLst>
              <a:ext uri="{FF2B5EF4-FFF2-40B4-BE49-F238E27FC236}">
                <a16:creationId xmlns:a16="http://schemas.microsoft.com/office/drawing/2014/main" id="{4386221A-6E24-904C-48AA-32F0E74E458B}"/>
              </a:ext>
            </a:extLst>
          </p:cNvPr>
          <p:cNvSpPr txBox="1"/>
          <p:nvPr/>
        </p:nvSpPr>
        <p:spPr>
          <a:xfrm>
            <a:off x="1127123" y="6006304"/>
            <a:ext cx="992735" cy="246221"/>
          </a:xfrm>
          <a:prstGeom prst="rect">
            <a:avLst/>
          </a:prstGeom>
          <a:noFill/>
        </p:spPr>
        <p:txBody>
          <a:bodyPr wrap="square" rtlCol="0">
            <a:spAutoFit/>
          </a:bodyPr>
          <a:lstStyle/>
          <a:p>
            <a:pPr algn="ctr"/>
            <a:r>
              <a:rPr lang="en-US" sz="1000" dirty="0"/>
              <a:t>Name</a:t>
            </a:r>
          </a:p>
        </p:txBody>
      </p:sp>
      <p:sp>
        <p:nvSpPr>
          <p:cNvPr id="35" name="TextBox 34">
            <a:extLst>
              <a:ext uri="{FF2B5EF4-FFF2-40B4-BE49-F238E27FC236}">
                <a16:creationId xmlns:a16="http://schemas.microsoft.com/office/drawing/2014/main" id="{1120AE65-8590-2642-D7D7-491A34BA2819}"/>
              </a:ext>
            </a:extLst>
          </p:cNvPr>
          <p:cNvSpPr txBox="1"/>
          <p:nvPr/>
        </p:nvSpPr>
        <p:spPr>
          <a:xfrm>
            <a:off x="2316866" y="6013953"/>
            <a:ext cx="992735" cy="246221"/>
          </a:xfrm>
          <a:prstGeom prst="rect">
            <a:avLst/>
          </a:prstGeom>
          <a:noFill/>
        </p:spPr>
        <p:txBody>
          <a:bodyPr wrap="square" rtlCol="0">
            <a:spAutoFit/>
          </a:bodyPr>
          <a:lstStyle/>
          <a:p>
            <a:pPr algn="ctr"/>
            <a:r>
              <a:rPr lang="en-US" sz="1000" dirty="0"/>
              <a:t>Name</a:t>
            </a:r>
          </a:p>
        </p:txBody>
      </p:sp>
      <p:sp>
        <p:nvSpPr>
          <p:cNvPr id="36" name="TextBox 35">
            <a:extLst>
              <a:ext uri="{FF2B5EF4-FFF2-40B4-BE49-F238E27FC236}">
                <a16:creationId xmlns:a16="http://schemas.microsoft.com/office/drawing/2014/main" id="{C48FC649-23C4-B186-CF0E-511F0F5631E2}"/>
              </a:ext>
            </a:extLst>
          </p:cNvPr>
          <p:cNvSpPr txBox="1"/>
          <p:nvPr/>
        </p:nvSpPr>
        <p:spPr>
          <a:xfrm>
            <a:off x="3503539" y="6020093"/>
            <a:ext cx="992735" cy="246221"/>
          </a:xfrm>
          <a:prstGeom prst="rect">
            <a:avLst/>
          </a:prstGeom>
          <a:noFill/>
        </p:spPr>
        <p:txBody>
          <a:bodyPr wrap="square" rtlCol="0">
            <a:spAutoFit/>
          </a:bodyPr>
          <a:lstStyle/>
          <a:p>
            <a:pPr algn="ctr"/>
            <a:r>
              <a:rPr lang="en-US" sz="1000" dirty="0"/>
              <a:t>Name</a:t>
            </a:r>
          </a:p>
        </p:txBody>
      </p:sp>
      <p:sp>
        <p:nvSpPr>
          <p:cNvPr id="37" name="Rectangle 36">
            <a:extLst>
              <a:ext uri="{FF2B5EF4-FFF2-40B4-BE49-F238E27FC236}">
                <a16:creationId xmlns:a16="http://schemas.microsoft.com/office/drawing/2014/main" id="{A29F544F-1B60-20BC-2E48-6AB4C0B6A98D}"/>
              </a:ext>
            </a:extLst>
          </p:cNvPr>
          <p:cNvSpPr/>
          <p:nvPr/>
        </p:nvSpPr>
        <p:spPr>
          <a:xfrm rot="10800000" flipH="1" flipV="1">
            <a:off x="4678174" y="5189040"/>
            <a:ext cx="1002705" cy="7980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artist image</a:t>
            </a:r>
          </a:p>
          <a:p>
            <a:pPr algn="ctr"/>
            <a:r>
              <a:rPr lang="en-CA" sz="1000" dirty="0">
                <a:solidFill>
                  <a:schemeClr val="bg1">
                    <a:lumMod val="65000"/>
                  </a:schemeClr>
                </a:solidFill>
              </a:rPr>
              <a:t>Or </a:t>
            </a:r>
          </a:p>
          <a:p>
            <a:pPr algn="ctr"/>
            <a:r>
              <a:rPr lang="en-CA" sz="1000" dirty="0">
                <a:solidFill>
                  <a:schemeClr val="bg1">
                    <a:lumMod val="65000"/>
                  </a:schemeClr>
                </a:solidFill>
              </a:rPr>
              <a:t>placeholder</a:t>
            </a:r>
          </a:p>
          <a:p>
            <a:pPr algn="ctr"/>
            <a:endParaRPr lang="en-CA" sz="1000" dirty="0">
              <a:solidFill>
                <a:schemeClr val="bg1">
                  <a:lumMod val="65000"/>
                </a:schemeClr>
              </a:solidFill>
            </a:endParaRPr>
          </a:p>
        </p:txBody>
      </p:sp>
      <p:sp>
        <p:nvSpPr>
          <p:cNvPr id="38" name="TextBox 37">
            <a:extLst>
              <a:ext uri="{FF2B5EF4-FFF2-40B4-BE49-F238E27FC236}">
                <a16:creationId xmlns:a16="http://schemas.microsoft.com/office/drawing/2014/main" id="{E2E8E2F0-7C32-1425-668D-EB48820481F1}"/>
              </a:ext>
            </a:extLst>
          </p:cNvPr>
          <p:cNvSpPr txBox="1"/>
          <p:nvPr/>
        </p:nvSpPr>
        <p:spPr>
          <a:xfrm>
            <a:off x="4688144" y="6020093"/>
            <a:ext cx="992735" cy="246221"/>
          </a:xfrm>
          <a:prstGeom prst="rect">
            <a:avLst/>
          </a:prstGeom>
          <a:noFill/>
        </p:spPr>
        <p:txBody>
          <a:bodyPr wrap="square" rtlCol="0">
            <a:spAutoFit/>
          </a:bodyPr>
          <a:lstStyle/>
          <a:p>
            <a:pPr algn="ctr"/>
            <a:r>
              <a:rPr lang="en-US" sz="1000" dirty="0"/>
              <a:t>Name</a:t>
            </a:r>
          </a:p>
        </p:txBody>
      </p:sp>
    </p:spTree>
    <p:extLst>
      <p:ext uri="{BB962C8B-B14F-4D97-AF65-F5344CB8AC3E}">
        <p14:creationId xmlns:p14="http://schemas.microsoft.com/office/powerpoint/2010/main" val="2446317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C8518-11D1-6DAC-F39F-0F39A944A78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C1CFF21-054C-DD60-A3A9-61F52B751E54}"/>
              </a:ext>
            </a:extLst>
          </p:cNvPr>
          <p:cNvSpPr/>
          <p:nvPr/>
        </p:nvSpPr>
        <p:spPr>
          <a:xfrm>
            <a:off x="2412602" y="1052704"/>
            <a:ext cx="6469115" cy="539937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Rectangle 8">
            <a:extLst>
              <a:ext uri="{FF2B5EF4-FFF2-40B4-BE49-F238E27FC236}">
                <a16:creationId xmlns:a16="http://schemas.microsoft.com/office/drawing/2014/main" id="{D75CB86E-A14E-34D0-67C0-A5D8E8048FF5}"/>
              </a:ext>
            </a:extLst>
          </p:cNvPr>
          <p:cNvSpPr/>
          <p:nvPr/>
        </p:nvSpPr>
        <p:spPr>
          <a:xfrm>
            <a:off x="2587468" y="1301561"/>
            <a:ext cx="1900706" cy="508772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146921DA-B3E4-25BD-8B9B-E1398AAE73FA}"/>
              </a:ext>
            </a:extLst>
          </p:cNvPr>
          <p:cNvSpPr/>
          <p:nvPr/>
        </p:nvSpPr>
        <p:spPr>
          <a:xfrm>
            <a:off x="4660637" y="1301454"/>
            <a:ext cx="3948917" cy="507714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Box 23">
            <a:extLst>
              <a:ext uri="{FF2B5EF4-FFF2-40B4-BE49-F238E27FC236}">
                <a16:creationId xmlns:a16="http://schemas.microsoft.com/office/drawing/2014/main" id="{E6EBA8D5-CA06-0BFA-DF22-4CD1B0133F2A}"/>
              </a:ext>
            </a:extLst>
          </p:cNvPr>
          <p:cNvSpPr txBox="1"/>
          <p:nvPr/>
        </p:nvSpPr>
        <p:spPr>
          <a:xfrm>
            <a:off x="2597452" y="1333390"/>
            <a:ext cx="1337443" cy="276999"/>
          </a:xfrm>
          <a:prstGeom prst="rect">
            <a:avLst/>
          </a:prstGeom>
          <a:noFill/>
        </p:spPr>
        <p:txBody>
          <a:bodyPr wrap="square" rtlCol="0">
            <a:spAutoFit/>
          </a:bodyPr>
          <a:lstStyle/>
          <a:p>
            <a:r>
              <a:rPr lang="en-US" sz="1200" b="1" dirty="0"/>
              <a:t>Filters</a:t>
            </a:r>
          </a:p>
        </p:txBody>
      </p:sp>
      <p:sp>
        <p:nvSpPr>
          <p:cNvPr id="25" name="TextBox 24">
            <a:extLst>
              <a:ext uri="{FF2B5EF4-FFF2-40B4-BE49-F238E27FC236}">
                <a16:creationId xmlns:a16="http://schemas.microsoft.com/office/drawing/2014/main" id="{B87A1DF5-315A-21AD-191E-B5CB8E6D530F}"/>
              </a:ext>
            </a:extLst>
          </p:cNvPr>
          <p:cNvSpPr txBox="1"/>
          <p:nvPr/>
        </p:nvSpPr>
        <p:spPr>
          <a:xfrm>
            <a:off x="2686232" y="1731313"/>
            <a:ext cx="1337443" cy="246221"/>
          </a:xfrm>
          <a:prstGeom prst="rect">
            <a:avLst/>
          </a:prstGeom>
          <a:noFill/>
        </p:spPr>
        <p:txBody>
          <a:bodyPr wrap="square" rtlCol="0">
            <a:spAutoFit/>
          </a:bodyPr>
          <a:lstStyle/>
          <a:p>
            <a:r>
              <a:rPr lang="en-US" sz="1000" b="1" dirty="0"/>
              <a:t>Title</a:t>
            </a:r>
          </a:p>
        </p:txBody>
      </p:sp>
      <p:sp>
        <p:nvSpPr>
          <p:cNvPr id="26" name="TextBox 25">
            <a:extLst>
              <a:ext uri="{FF2B5EF4-FFF2-40B4-BE49-F238E27FC236}">
                <a16:creationId xmlns:a16="http://schemas.microsoft.com/office/drawing/2014/main" id="{382B65F0-C54B-56DC-1584-98B31175590E}"/>
              </a:ext>
            </a:extLst>
          </p:cNvPr>
          <p:cNvSpPr txBox="1"/>
          <p:nvPr/>
        </p:nvSpPr>
        <p:spPr>
          <a:xfrm>
            <a:off x="2664773" y="3729162"/>
            <a:ext cx="1337443" cy="246221"/>
          </a:xfrm>
          <a:prstGeom prst="rect">
            <a:avLst/>
          </a:prstGeom>
          <a:noFill/>
        </p:spPr>
        <p:txBody>
          <a:bodyPr wrap="square" rtlCol="0">
            <a:spAutoFit/>
          </a:bodyPr>
          <a:lstStyle/>
          <a:p>
            <a:r>
              <a:rPr lang="en-US" sz="1000" b="1" dirty="0"/>
              <a:t>Artists</a:t>
            </a:r>
          </a:p>
        </p:txBody>
      </p:sp>
      <p:sp>
        <p:nvSpPr>
          <p:cNvPr id="28" name="TextBox 27">
            <a:extLst>
              <a:ext uri="{FF2B5EF4-FFF2-40B4-BE49-F238E27FC236}">
                <a16:creationId xmlns:a16="http://schemas.microsoft.com/office/drawing/2014/main" id="{5BBF00E9-8D78-AF15-C026-4989013F86FB}"/>
              </a:ext>
            </a:extLst>
          </p:cNvPr>
          <p:cNvSpPr txBox="1"/>
          <p:nvPr/>
        </p:nvSpPr>
        <p:spPr>
          <a:xfrm>
            <a:off x="2639851" y="5299019"/>
            <a:ext cx="1337443" cy="246221"/>
          </a:xfrm>
          <a:prstGeom prst="rect">
            <a:avLst/>
          </a:prstGeom>
          <a:noFill/>
        </p:spPr>
        <p:txBody>
          <a:bodyPr wrap="square" rtlCol="0">
            <a:spAutoFit/>
          </a:bodyPr>
          <a:lstStyle/>
          <a:p>
            <a:r>
              <a:rPr lang="en-US" sz="1000" b="1" dirty="0"/>
              <a:t>Genres</a:t>
            </a:r>
          </a:p>
        </p:txBody>
      </p:sp>
      <p:sp>
        <p:nvSpPr>
          <p:cNvPr id="46" name="TextBox 45">
            <a:extLst>
              <a:ext uri="{FF2B5EF4-FFF2-40B4-BE49-F238E27FC236}">
                <a16:creationId xmlns:a16="http://schemas.microsoft.com/office/drawing/2014/main" id="{7C9D45B1-C8E1-6191-FF65-13E8675E7182}"/>
              </a:ext>
            </a:extLst>
          </p:cNvPr>
          <p:cNvSpPr txBox="1"/>
          <p:nvPr/>
        </p:nvSpPr>
        <p:spPr>
          <a:xfrm>
            <a:off x="3023654" y="3985942"/>
            <a:ext cx="806921" cy="246221"/>
          </a:xfrm>
          <a:prstGeom prst="rect">
            <a:avLst/>
          </a:prstGeom>
          <a:noFill/>
        </p:spPr>
        <p:txBody>
          <a:bodyPr wrap="square" rtlCol="0">
            <a:spAutoFit/>
          </a:bodyPr>
          <a:lstStyle/>
          <a:p>
            <a:r>
              <a:rPr lang="en-US" sz="1000" dirty="0"/>
              <a:t>AJR </a:t>
            </a:r>
          </a:p>
        </p:txBody>
      </p:sp>
      <p:sp>
        <p:nvSpPr>
          <p:cNvPr id="47" name="TextBox 46">
            <a:extLst>
              <a:ext uri="{FF2B5EF4-FFF2-40B4-BE49-F238E27FC236}">
                <a16:creationId xmlns:a16="http://schemas.microsoft.com/office/drawing/2014/main" id="{8A4E18DF-1F99-65EB-12AC-4C7D5BD5CE0D}"/>
              </a:ext>
            </a:extLst>
          </p:cNvPr>
          <p:cNvSpPr txBox="1"/>
          <p:nvPr/>
        </p:nvSpPr>
        <p:spPr>
          <a:xfrm>
            <a:off x="3023654" y="4248835"/>
            <a:ext cx="806921" cy="246221"/>
          </a:xfrm>
          <a:prstGeom prst="rect">
            <a:avLst/>
          </a:prstGeom>
          <a:noFill/>
        </p:spPr>
        <p:txBody>
          <a:bodyPr wrap="square" rtlCol="0">
            <a:spAutoFit/>
          </a:bodyPr>
          <a:lstStyle/>
          <a:p>
            <a:r>
              <a:rPr lang="en-US" sz="1000" dirty="0">
                <a:solidFill>
                  <a:schemeClr val="bg1">
                    <a:lumMod val="50000"/>
                  </a:schemeClr>
                </a:solidFill>
              </a:rPr>
              <a:t>Bad Bunny</a:t>
            </a:r>
          </a:p>
        </p:txBody>
      </p:sp>
      <p:sp>
        <p:nvSpPr>
          <p:cNvPr id="48" name="TextBox 47">
            <a:extLst>
              <a:ext uri="{FF2B5EF4-FFF2-40B4-BE49-F238E27FC236}">
                <a16:creationId xmlns:a16="http://schemas.microsoft.com/office/drawing/2014/main" id="{55DD628C-57F7-7D72-F340-59D739B07913}"/>
              </a:ext>
            </a:extLst>
          </p:cNvPr>
          <p:cNvSpPr txBox="1"/>
          <p:nvPr/>
        </p:nvSpPr>
        <p:spPr>
          <a:xfrm>
            <a:off x="3023654" y="4511034"/>
            <a:ext cx="806921" cy="246221"/>
          </a:xfrm>
          <a:prstGeom prst="rect">
            <a:avLst/>
          </a:prstGeom>
          <a:noFill/>
        </p:spPr>
        <p:txBody>
          <a:bodyPr wrap="square" rtlCol="0">
            <a:spAutoFit/>
          </a:bodyPr>
          <a:lstStyle/>
          <a:p>
            <a:r>
              <a:rPr lang="en-US" sz="1000" dirty="0"/>
              <a:t>Cardi B</a:t>
            </a:r>
          </a:p>
        </p:txBody>
      </p:sp>
      <p:sp>
        <p:nvSpPr>
          <p:cNvPr id="49" name="TextBox 48">
            <a:extLst>
              <a:ext uri="{FF2B5EF4-FFF2-40B4-BE49-F238E27FC236}">
                <a16:creationId xmlns:a16="http://schemas.microsoft.com/office/drawing/2014/main" id="{15464B52-E1F5-7D42-B99B-019BAC54AF58}"/>
              </a:ext>
            </a:extLst>
          </p:cNvPr>
          <p:cNvSpPr txBox="1"/>
          <p:nvPr/>
        </p:nvSpPr>
        <p:spPr>
          <a:xfrm>
            <a:off x="3023654" y="4757255"/>
            <a:ext cx="806921" cy="246221"/>
          </a:xfrm>
          <a:prstGeom prst="rect">
            <a:avLst/>
          </a:prstGeom>
          <a:noFill/>
        </p:spPr>
        <p:txBody>
          <a:bodyPr wrap="square" rtlCol="0">
            <a:spAutoFit/>
          </a:bodyPr>
          <a:lstStyle/>
          <a:p>
            <a:r>
              <a:rPr lang="en-US" sz="1000" dirty="0">
                <a:solidFill>
                  <a:schemeClr val="bg1">
                    <a:lumMod val="50000"/>
                  </a:schemeClr>
                </a:solidFill>
              </a:rPr>
              <a:t>DJ Kaled</a:t>
            </a:r>
          </a:p>
        </p:txBody>
      </p:sp>
      <p:sp>
        <p:nvSpPr>
          <p:cNvPr id="53" name="TextBox 52">
            <a:extLst>
              <a:ext uri="{FF2B5EF4-FFF2-40B4-BE49-F238E27FC236}">
                <a16:creationId xmlns:a16="http://schemas.microsoft.com/office/drawing/2014/main" id="{6935A556-516C-6DC2-FAEF-BD7EF19A79AB}"/>
              </a:ext>
            </a:extLst>
          </p:cNvPr>
          <p:cNvSpPr txBox="1"/>
          <p:nvPr/>
        </p:nvSpPr>
        <p:spPr>
          <a:xfrm>
            <a:off x="4931779" y="2409712"/>
            <a:ext cx="1517763" cy="246221"/>
          </a:xfrm>
          <a:prstGeom prst="rect">
            <a:avLst/>
          </a:prstGeom>
          <a:noFill/>
        </p:spPr>
        <p:txBody>
          <a:bodyPr wrap="square" rtlCol="0">
            <a:spAutoFit/>
          </a:bodyPr>
          <a:lstStyle/>
          <a:p>
            <a:r>
              <a:rPr lang="en-US" sz="1000" b="1" dirty="0"/>
              <a:t>Title</a:t>
            </a:r>
          </a:p>
        </p:txBody>
      </p:sp>
      <p:sp>
        <p:nvSpPr>
          <p:cNvPr id="62" name="Rectangle 61">
            <a:extLst>
              <a:ext uri="{FF2B5EF4-FFF2-40B4-BE49-F238E27FC236}">
                <a16:creationId xmlns:a16="http://schemas.microsoft.com/office/drawing/2014/main" id="{BE69CC91-1D66-A670-67C2-CCB0EC1F80D5}"/>
              </a:ext>
            </a:extLst>
          </p:cNvPr>
          <p:cNvSpPr/>
          <p:nvPr/>
        </p:nvSpPr>
        <p:spPr>
          <a:xfrm>
            <a:off x="7082374" y="1376852"/>
            <a:ext cx="1119296" cy="236794"/>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Isosceles Triangle 62">
            <a:extLst>
              <a:ext uri="{FF2B5EF4-FFF2-40B4-BE49-F238E27FC236}">
                <a16:creationId xmlns:a16="http://schemas.microsoft.com/office/drawing/2014/main" id="{05815B0E-BA16-2800-070F-938B0D6C97FF}"/>
              </a:ext>
            </a:extLst>
          </p:cNvPr>
          <p:cNvSpPr/>
          <p:nvPr/>
        </p:nvSpPr>
        <p:spPr>
          <a:xfrm rot="10800000">
            <a:off x="8004026" y="1470188"/>
            <a:ext cx="72802" cy="56903"/>
          </a:xfrm>
          <a:prstGeom prst="triangl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4" name="TextBox 63">
            <a:extLst>
              <a:ext uri="{FF2B5EF4-FFF2-40B4-BE49-F238E27FC236}">
                <a16:creationId xmlns:a16="http://schemas.microsoft.com/office/drawing/2014/main" id="{9112B85C-0E69-8A08-857D-348537AFAD31}"/>
              </a:ext>
            </a:extLst>
          </p:cNvPr>
          <p:cNvSpPr txBox="1"/>
          <p:nvPr/>
        </p:nvSpPr>
        <p:spPr>
          <a:xfrm>
            <a:off x="7082374" y="1367425"/>
            <a:ext cx="1126128" cy="246221"/>
          </a:xfrm>
          <a:prstGeom prst="rect">
            <a:avLst/>
          </a:prstGeom>
          <a:noFill/>
          <a:ln>
            <a:solidFill>
              <a:schemeClr val="bg1">
                <a:lumMod val="75000"/>
              </a:schemeClr>
            </a:solidFill>
          </a:ln>
        </p:spPr>
        <p:txBody>
          <a:bodyPr wrap="square" rtlCol="0">
            <a:spAutoFit/>
          </a:bodyPr>
          <a:lstStyle/>
          <a:p>
            <a:r>
              <a:rPr lang="en-US" sz="1000" dirty="0">
                <a:solidFill>
                  <a:schemeClr val="bg1">
                    <a:lumMod val="65000"/>
                  </a:schemeClr>
                </a:solidFill>
              </a:rPr>
              <a:t>Title</a:t>
            </a:r>
          </a:p>
        </p:txBody>
      </p:sp>
      <p:sp>
        <p:nvSpPr>
          <p:cNvPr id="65" name="TextBox 64">
            <a:extLst>
              <a:ext uri="{FF2B5EF4-FFF2-40B4-BE49-F238E27FC236}">
                <a16:creationId xmlns:a16="http://schemas.microsoft.com/office/drawing/2014/main" id="{07D10612-7640-94BE-6550-55AB4BAFAE16}"/>
              </a:ext>
            </a:extLst>
          </p:cNvPr>
          <p:cNvSpPr txBox="1"/>
          <p:nvPr/>
        </p:nvSpPr>
        <p:spPr>
          <a:xfrm>
            <a:off x="6660955" y="1376852"/>
            <a:ext cx="720608" cy="246221"/>
          </a:xfrm>
          <a:prstGeom prst="rect">
            <a:avLst/>
          </a:prstGeom>
          <a:noFill/>
        </p:spPr>
        <p:txBody>
          <a:bodyPr wrap="square" rtlCol="0">
            <a:spAutoFit/>
          </a:bodyPr>
          <a:lstStyle/>
          <a:p>
            <a:r>
              <a:rPr lang="en-US" sz="1000" dirty="0"/>
              <a:t>Sort</a:t>
            </a:r>
          </a:p>
        </p:txBody>
      </p:sp>
      <p:sp>
        <p:nvSpPr>
          <p:cNvPr id="66" name="Isosceles Triangle 65">
            <a:extLst>
              <a:ext uri="{FF2B5EF4-FFF2-40B4-BE49-F238E27FC236}">
                <a16:creationId xmlns:a16="http://schemas.microsoft.com/office/drawing/2014/main" id="{361B9195-9328-350D-9ECF-DBC1D1CE9EC5}"/>
              </a:ext>
            </a:extLst>
          </p:cNvPr>
          <p:cNvSpPr/>
          <p:nvPr/>
        </p:nvSpPr>
        <p:spPr>
          <a:xfrm rot="10800000">
            <a:off x="4340273" y="3782489"/>
            <a:ext cx="89409" cy="6986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7" name="Isosceles Triangle 66">
            <a:extLst>
              <a:ext uri="{FF2B5EF4-FFF2-40B4-BE49-F238E27FC236}">
                <a16:creationId xmlns:a16="http://schemas.microsoft.com/office/drawing/2014/main" id="{AA790CFB-03A0-76F4-E8A6-D0EBC29AB94D}"/>
              </a:ext>
            </a:extLst>
          </p:cNvPr>
          <p:cNvSpPr/>
          <p:nvPr/>
        </p:nvSpPr>
        <p:spPr>
          <a:xfrm rot="10800000">
            <a:off x="4272320" y="1834686"/>
            <a:ext cx="89409" cy="6986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0" name="Rectangle 69">
            <a:extLst>
              <a:ext uri="{FF2B5EF4-FFF2-40B4-BE49-F238E27FC236}">
                <a16:creationId xmlns:a16="http://schemas.microsoft.com/office/drawing/2014/main" id="{A25C5726-62EF-EBA9-C96B-47E14A388EC5}"/>
              </a:ext>
            </a:extLst>
          </p:cNvPr>
          <p:cNvSpPr/>
          <p:nvPr/>
        </p:nvSpPr>
        <p:spPr>
          <a:xfrm>
            <a:off x="2790267" y="5593670"/>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X</a:t>
            </a:r>
          </a:p>
        </p:txBody>
      </p:sp>
      <p:sp>
        <p:nvSpPr>
          <p:cNvPr id="71" name="Rectangle 70">
            <a:extLst>
              <a:ext uri="{FF2B5EF4-FFF2-40B4-BE49-F238E27FC236}">
                <a16:creationId xmlns:a16="http://schemas.microsoft.com/office/drawing/2014/main" id="{2E7209C4-AB0E-CA09-8DEA-98A5D4CEABAE}"/>
              </a:ext>
            </a:extLst>
          </p:cNvPr>
          <p:cNvSpPr/>
          <p:nvPr/>
        </p:nvSpPr>
        <p:spPr>
          <a:xfrm>
            <a:off x="2790266" y="5829457"/>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72" name="TextBox 71">
            <a:extLst>
              <a:ext uri="{FF2B5EF4-FFF2-40B4-BE49-F238E27FC236}">
                <a16:creationId xmlns:a16="http://schemas.microsoft.com/office/drawing/2014/main" id="{E2306817-AC2D-617E-5D03-296BCE14FBA4}"/>
              </a:ext>
            </a:extLst>
          </p:cNvPr>
          <p:cNvSpPr txBox="1"/>
          <p:nvPr/>
        </p:nvSpPr>
        <p:spPr>
          <a:xfrm>
            <a:off x="2995168" y="5545945"/>
            <a:ext cx="806921" cy="246221"/>
          </a:xfrm>
          <a:prstGeom prst="rect">
            <a:avLst/>
          </a:prstGeom>
          <a:noFill/>
        </p:spPr>
        <p:txBody>
          <a:bodyPr wrap="square" rtlCol="0">
            <a:spAutoFit/>
          </a:bodyPr>
          <a:lstStyle/>
          <a:p>
            <a:r>
              <a:rPr lang="en-US" sz="1000" dirty="0"/>
              <a:t>Art Pop </a:t>
            </a:r>
          </a:p>
        </p:txBody>
      </p:sp>
      <p:sp>
        <p:nvSpPr>
          <p:cNvPr id="73" name="TextBox 72">
            <a:extLst>
              <a:ext uri="{FF2B5EF4-FFF2-40B4-BE49-F238E27FC236}">
                <a16:creationId xmlns:a16="http://schemas.microsoft.com/office/drawing/2014/main" id="{6DDA10AC-E424-253F-60C0-07F7480AFD01}"/>
              </a:ext>
            </a:extLst>
          </p:cNvPr>
          <p:cNvSpPr txBox="1"/>
          <p:nvPr/>
        </p:nvSpPr>
        <p:spPr>
          <a:xfrm>
            <a:off x="3008209" y="5775840"/>
            <a:ext cx="806921" cy="246221"/>
          </a:xfrm>
          <a:prstGeom prst="rect">
            <a:avLst/>
          </a:prstGeom>
          <a:noFill/>
        </p:spPr>
        <p:txBody>
          <a:bodyPr wrap="square" rtlCol="0">
            <a:spAutoFit/>
          </a:bodyPr>
          <a:lstStyle/>
          <a:p>
            <a:r>
              <a:rPr lang="en-US" sz="1000" dirty="0">
                <a:solidFill>
                  <a:schemeClr val="bg1">
                    <a:lumMod val="50000"/>
                  </a:schemeClr>
                </a:solidFill>
              </a:rPr>
              <a:t>Boy Band </a:t>
            </a:r>
          </a:p>
        </p:txBody>
      </p:sp>
      <p:sp>
        <p:nvSpPr>
          <p:cNvPr id="75" name="TextBox 74">
            <a:extLst>
              <a:ext uri="{FF2B5EF4-FFF2-40B4-BE49-F238E27FC236}">
                <a16:creationId xmlns:a16="http://schemas.microsoft.com/office/drawing/2014/main" id="{6827F050-DAEB-EC61-DD78-B7540161D0B4}"/>
              </a:ext>
            </a:extLst>
          </p:cNvPr>
          <p:cNvSpPr txBox="1"/>
          <p:nvPr/>
        </p:nvSpPr>
        <p:spPr>
          <a:xfrm>
            <a:off x="3008209" y="6026562"/>
            <a:ext cx="806921" cy="246221"/>
          </a:xfrm>
          <a:prstGeom prst="rect">
            <a:avLst/>
          </a:prstGeom>
          <a:noFill/>
        </p:spPr>
        <p:txBody>
          <a:bodyPr wrap="square" rtlCol="0">
            <a:spAutoFit/>
          </a:bodyPr>
          <a:lstStyle/>
          <a:p>
            <a:r>
              <a:rPr lang="en-US" sz="1000" dirty="0"/>
              <a:t>Country</a:t>
            </a:r>
            <a:r>
              <a:rPr lang="en-US" sz="1000" dirty="0">
                <a:solidFill>
                  <a:schemeClr val="bg1">
                    <a:lumMod val="50000"/>
                  </a:schemeClr>
                </a:solidFill>
              </a:rPr>
              <a:t> </a:t>
            </a:r>
          </a:p>
        </p:txBody>
      </p:sp>
      <p:sp>
        <p:nvSpPr>
          <p:cNvPr id="79" name="TextBox 78">
            <a:extLst>
              <a:ext uri="{FF2B5EF4-FFF2-40B4-BE49-F238E27FC236}">
                <a16:creationId xmlns:a16="http://schemas.microsoft.com/office/drawing/2014/main" id="{A0597AEC-98A5-2358-FEE5-8E640A394FF1}"/>
              </a:ext>
            </a:extLst>
          </p:cNvPr>
          <p:cNvSpPr txBox="1"/>
          <p:nvPr/>
        </p:nvSpPr>
        <p:spPr>
          <a:xfrm>
            <a:off x="5862153" y="1716734"/>
            <a:ext cx="655681" cy="246221"/>
          </a:xfrm>
          <a:prstGeom prst="rect">
            <a:avLst/>
          </a:prstGeom>
          <a:noFill/>
        </p:spPr>
        <p:txBody>
          <a:bodyPr wrap="square" rtlCol="0">
            <a:spAutoFit/>
          </a:bodyPr>
          <a:lstStyle/>
          <a:p>
            <a:r>
              <a:rPr lang="en-US" sz="1000" b="1" dirty="0"/>
              <a:t>Results</a:t>
            </a:r>
          </a:p>
        </p:txBody>
      </p:sp>
      <p:sp>
        <p:nvSpPr>
          <p:cNvPr id="80" name="TextBox 79">
            <a:extLst>
              <a:ext uri="{FF2B5EF4-FFF2-40B4-BE49-F238E27FC236}">
                <a16:creationId xmlns:a16="http://schemas.microsoft.com/office/drawing/2014/main" id="{5DF1D351-296F-A969-FED2-239EA783C3EA}"/>
              </a:ext>
            </a:extLst>
          </p:cNvPr>
          <p:cNvSpPr txBox="1"/>
          <p:nvPr/>
        </p:nvSpPr>
        <p:spPr>
          <a:xfrm>
            <a:off x="5707806" y="2080038"/>
            <a:ext cx="516967" cy="153816"/>
          </a:xfrm>
          <a:prstGeom prst="rect">
            <a:avLst/>
          </a:prstGeom>
          <a:noFill/>
          <a:ln>
            <a:solidFill>
              <a:schemeClr val="bg1">
                <a:lumMod val="75000"/>
              </a:schemeClr>
            </a:solidFill>
          </a:ln>
        </p:spPr>
        <p:txBody>
          <a:bodyPr wrap="square" lIns="0" tIns="0" rIns="0" bIns="0" rtlCol="0">
            <a:spAutoFit/>
          </a:bodyPr>
          <a:lstStyle/>
          <a:p>
            <a:pPr algn="ctr"/>
            <a:r>
              <a:rPr lang="en-US" sz="1000" dirty="0"/>
              <a:t>2016</a:t>
            </a:r>
          </a:p>
        </p:txBody>
      </p:sp>
      <p:sp>
        <p:nvSpPr>
          <p:cNvPr id="81" name="TextBox 80">
            <a:extLst>
              <a:ext uri="{FF2B5EF4-FFF2-40B4-BE49-F238E27FC236}">
                <a16:creationId xmlns:a16="http://schemas.microsoft.com/office/drawing/2014/main" id="{AE65026D-2633-6475-CA58-780745FAA437}"/>
              </a:ext>
            </a:extLst>
          </p:cNvPr>
          <p:cNvSpPr txBox="1"/>
          <p:nvPr/>
        </p:nvSpPr>
        <p:spPr>
          <a:xfrm>
            <a:off x="5083377" y="2080038"/>
            <a:ext cx="516967" cy="153816"/>
          </a:xfrm>
          <a:prstGeom prst="rect">
            <a:avLst/>
          </a:prstGeom>
          <a:noFill/>
          <a:ln>
            <a:solidFill>
              <a:schemeClr val="bg1">
                <a:lumMod val="75000"/>
              </a:schemeClr>
            </a:solidFill>
          </a:ln>
        </p:spPr>
        <p:txBody>
          <a:bodyPr wrap="square" lIns="0" tIns="0" rIns="0" bIns="0" rtlCol="0">
            <a:spAutoFit/>
          </a:bodyPr>
          <a:lstStyle/>
          <a:p>
            <a:pPr algn="ctr"/>
            <a:r>
              <a:rPr lang="en-US" sz="1000" dirty="0"/>
              <a:t>love</a:t>
            </a:r>
          </a:p>
        </p:txBody>
      </p:sp>
      <p:sp>
        <p:nvSpPr>
          <p:cNvPr id="82" name="TextBox 81">
            <a:extLst>
              <a:ext uri="{FF2B5EF4-FFF2-40B4-BE49-F238E27FC236}">
                <a16:creationId xmlns:a16="http://schemas.microsoft.com/office/drawing/2014/main" id="{68BECFD9-47FA-C5C7-787B-850DD1B60E0F}"/>
              </a:ext>
            </a:extLst>
          </p:cNvPr>
          <p:cNvSpPr txBox="1"/>
          <p:nvPr/>
        </p:nvSpPr>
        <p:spPr>
          <a:xfrm>
            <a:off x="6342857" y="2086511"/>
            <a:ext cx="516967" cy="153816"/>
          </a:xfrm>
          <a:prstGeom prst="rect">
            <a:avLst/>
          </a:prstGeom>
          <a:noFill/>
          <a:ln>
            <a:solidFill>
              <a:schemeClr val="bg1">
                <a:lumMod val="75000"/>
              </a:schemeClr>
            </a:solidFill>
          </a:ln>
        </p:spPr>
        <p:txBody>
          <a:bodyPr wrap="square" lIns="0" tIns="0" rIns="0" bIns="0" rtlCol="0">
            <a:spAutoFit/>
          </a:bodyPr>
          <a:lstStyle/>
          <a:p>
            <a:pPr algn="ctr"/>
            <a:r>
              <a:rPr lang="en-US" sz="1000" dirty="0"/>
              <a:t>2018</a:t>
            </a:r>
          </a:p>
        </p:txBody>
      </p:sp>
      <p:sp>
        <p:nvSpPr>
          <p:cNvPr id="83" name="TextBox 82">
            <a:extLst>
              <a:ext uri="{FF2B5EF4-FFF2-40B4-BE49-F238E27FC236}">
                <a16:creationId xmlns:a16="http://schemas.microsoft.com/office/drawing/2014/main" id="{5737850B-4175-002B-D058-4BA9E7E4059C}"/>
              </a:ext>
            </a:extLst>
          </p:cNvPr>
          <p:cNvSpPr txBox="1"/>
          <p:nvPr/>
        </p:nvSpPr>
        <p:spPr>
          <a:xfrm>
            <a:off x="6967286" y="2080038"/>
            <a:ext cx="516967" cy="153816"/>
          </a:xfrm>
          <a:prstGeom prst="rect">
            <a:avLst/>
          </a:prstGeom>
          <a:noFill/>
          <a:ln>
            <a:solidFill>
              <a:schemeClr val="bg1">
                <a:lumMod val="75000"/>
              </a:schemeClr>
            </a:solidFill>
          </a:ln>
        </p:spPr>
        <p:txBody>
          <a:bodyPr wrap="square" lIns="0" tIns="0" rIns="0" bIns="0" rtlCol="0">
            <a:spAutoFit/>
          </a:bodyPr>
          <a:lstStyle/>
          <a:p>
            <a:pPr algn="ctr"/>
            <a:r>
              <a:rPr lang="en-US" sz="1000" dirty="0"/>
              <a:t>Art Pop</a:t>
            </a:r>
          </a:p>
        </p:txBody>
      </p:sp>
      <p:sp>
        <p:nvSpPr>
          <p:cNvPr id="84" name="Rectangle 83">
            <a:extLst>
              <a:ext uri="{FF2B5EF4-FFF2-40B4-BE49-F238E27FC236}">
                <a16:creationId xmlns:a16="http://schemas.microsoft.com/office/drawing/2014/main" id="{6FAB30FD-9F48-BE53-2C57-93754C1EBD69}"/>
              </a:ext>
            </a:extLst>
          </p:cNvPr>
          <p:cNvSpPr/>
          <p:nvPr/>
        </p:nvSpPr>
        <p:spPr>
          <a:xfrm>
            <a:off x="2783604" y="6074927"/>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X</a:t>
            </a:r>
          </a:p>
        </p:txBody>
      </p:sp>
      <p:sp>
        <p:nvSpPr>
          <p:cNvPr id="85" name="TextBox 84">
            <a:extLst>
              <a:ext uri="{FF2B5EF4-FFF2-40B4-BE49-F238E27FC236}">
                <a16:creationId xmlns:a16="http://schemas.microsoft.com/office/drawing/2014/main" id="{085F5B34-8E64-1488-FA6A-E8F82D05A9C5}"/>
              </a:ext>
            </a:extLst>
          </p:cNvPr>
          <p:cNvSpPr txBox="1"/>
          <p:nvPr/>
        </p:nvSpPr>
        <p:spPr>
          <a:xfrm>
            <a:off x="7603271" y="2080038"/>
            <a:ext cx="516967" cy="153816"/>
          </a:xfrm>
          <a:prstGeom prst="rect">
            <a:avLst/>
          </a:prstGeom>
          <a:noFill/>
          <a:ln>
            <a:solidFill>
              <a:schemeClr val="bg1">
                <a:lumMod val="75000"/>
              </a:schemeClr>
            </a:solidFill>
          </a:ln>
        </p:spPr>
        <p:txBody>
          <a:bodyPr wrap="square" lIns="0" tIns="0" rIns="0" bIns="0" rtlCol="0">
            <a:spAutoFit/>
          </a:bodyPr>
          <a:lstStyle/>
          <a:p>
            <a:pPr algn="ctr"/>
            <a:r>
              <a:rPr lang="en-US" sz="1000" dirty="0"/>
              <a:t>Country</a:t>
            </a:r>
          </a:p>
        </p:txBody>
      </p:sp>
      <p:sp>
        <p:nvSpPr>
          <p:cNvPr id="86" name="Isosceles Triangle 85">
            <a:extLst>
              <a:ext uri="{FF2B5EF4-FFF2-40B4-BE49-F238E27FC236}">
                <a16:creationId xmlns:a16="http://schemas.microsoft.com/office/drawing/2014/main" id="{23CF5E01-E964-80B3-A8BD-F843DED1E284}"/>
              </a:ext>
            </a:extLst>
          </p:cNvPr>
          <p:cNvSpPr/>
          <p:nvPr/>
        </p:nvSpPr>
        <p:spPr>
          <a:xfrm rot="10800000">
            <a:off x="4267257" y="5402556"/>
            <a:ext cx="89409" cy="6986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Rectangle 3">
            <a:extLst>
              <a:ext uri="{FF2B5EF4-FFF2-40B4-BE49-F238E27FC236}">
                <a16:creationId xmlns:a16="http://schemas.microsoft.com/office/drawing/2014/main" id="{5DF4CFFF-6EF3-2CA5-25E6-4F487F0A42E3}"/>
              </a:ext>
            </a:extLst>
          </p:cNvPr>
          <p:cNvSpPr/>
          <p:nvPr/>
        </p:nvSpPr>
        <p:spPr>
          <a:xfrm>
            <a:off x="8199377" y="2721322"/>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35" name="TextBox 34">
            <a:extLst>
              <a:ext uri="{FF2B5EF4-FFF2-40B4-BE49-F238E27FC236}">
                <a16:creationId xmlns:a16="http://schemas.microsoft.com/office/drawing/2014/main" id="{E9D26548-B4C8-2739-4717-3DE98D661D9E}"/>
              </a:ext>
            </a:extLst>
          </p:cNvPr>
          <p:cNvSpPr txBox="1"/>
          <p:nvPr/>
        </p:nvSpPr>
        <p:spPr>
          <a:xfrm>
            <a:off x="9063184" y="3440601"/>
            <a:ext cx="1885019" cy="938719"/>
          </a:xfrm>
          <a:prstGeom prst="rect">
            <a:avLst/>
          </a:prstGeom>
          <a:noFill/>
        </p:spPr>
        <p:txBody>
          <a:bodyPr wrap="square" rtlCol="0">
            <a:spAutoFit/>
          </a:bodyPr>
          <a:lstStyle/>
          <a:p>
            <a:r>
              <a:rPr lang="en-US" sz="1100" i="1" dirty="0">
                <a:solidFill>
                  <a:srgbClr val="0070C0"/>
                </a:solidFill>
              </a:rPr>
              <a:t>There are lots of ways of visually displaying this information. I’d encourage you to take a look at other sites for ideas.</a:t>
            </a:r>
          </a:p>
        </p:txBody>
      </p:sp>
      <p:sp>
        <p:nvSpPr>
          <p:cNvPr id="36" name="TextBox 35">
            <a:extLst>
              <a:ext uri="{FF2B5EF4-FFF2-40B4-BE49-F238E27FC236}">
                <a16:creationId xmlns:a16="http://schemas.microsoft.com/office/drawing/2014/main" id="{96B2D54D-3A6F-0B34-3B77-5EC9E699744F}"/>
              </a:ext>
            </a:extLst>
          </p:cNvPr>
          <p:cNvSpPr txBox="1"/>
          <p:nvPr/>
        </p:nvSpPr>
        <p:spPr>
          <a:xfrm>
            <a:off x="4853263" y="4240306"/>
            <a:ext cx="1110042" cy="938719"/>
          </a:xfrm>
          <a:prstGeom prst="rect">
            <a:avLst/>
          </a:prstGeom>
          <a:noFill/>
        </p:spPr>
        <p:txBody>
          <a:bodyPr wrap="square" rtlCol="0">
            <a:spAutoFit/>
          </a:bodyPr>
          <a:lstStyle/>
          <a:p>
            <a:r>
              <a:rPr lang="en-US" sz="1100" i="1" dirty="0">
                <a:solidFill>
                  <a:srgbClr val="0070C0"/>
                </a:solidFill>
              </a:rPr>
              <a:t>Each of these song titles should be links to the single song view</a:t>
            </a:r>
          </a:p>
        </p:txBody>
      </p:sp>
      <p:sp>
        <p:nvSpPr>
          <p:cNvPr id="37" name="TextBox 36">
            <a:extLst>
              <a:ext uri="{FF2B5EF4-FFF2-40B4-BE49-F238E27FC236}">
                <a16:creationId xmlns:a16="http://schemas.microsoft.com/office/drawing/2014/main" id="{ED162404-4956-A20E-00EC-60CFAE5AF6BE}"/>
              </a:ext>
            </a:extLst>
          </p:cNvPr>
          <p:cNvSpPr txBox="1"/>
          <p:nvPr/>
        </p:nvSpPr>
        <p:spPr>
          <a:xfrm>
            <a:off x="7433328" y="4245453"/>
            <a:ext cx="1141396" cy="938719"/>
          </a:xfrm>
          <a:prstGeom prst="rect">
            <a:avLst/>
          </a:prstGeom>
          <a:noFill/>
        </p:spPr>
        <p:txBody>
          <a:bodyPr wrap="square" rtlCol="0">
            <a:spAutoFit/>
          </a:bodyPr>
          <a:lstStyle/>
          <a:p>
            <a:r>
              <a:rPr lang="en-US" sz="1100" i="1" dirty="0">
                <a:solidFill>
                  <a:srgbClr val="0070C0"/>
                </a:solidFill>
              </a:rPr>
              <a:t>Should be a way to add a song to a playlist</a:t>
            </a:r>
          </a:p>
          <a:p>
            <a:endParaRPr lang="en-US" sz="1100" i="1" dirty="0">
              <a:solidFill>
                <a:srgbClr val="0070C0"/>
              </a:solidFill>
            </a:endParaRPr>
          </a:p>
          <a:p>
            <a:endParaRPr lang="en-US" sz="1100" i="1" dirty="0">
              <a:solidFill>
                <a:srgbClr val="0070C0"/>
              </a:solidFill>
            </a:endParaRPr>
          </a:p>
        </p:txBody>
      </p:sp>
      <p:sp>
        <p:nvSpPr>
          <p:cNvPr id="38" name="TextBox 37">
            <a:extLst>
              <a:ext uri="{FF2B5EF4-FFF2-40B4-BE49-F238E27FC236}">
                <a16:creationId xmlns:a16="http://schemas.microsoft.com/office/drawing/2014/main" id="{8EBA8587-AAF9-8708-B0AE-1B6643513965}"/>
              </a:ext>
            </a:extLst>
          </p:cNvPr>
          <p:cNvSpPr txBox="1"/>
          <p:nvPr/>
        </p:nvSpPr>
        <p:spPr>
          <a:xfrm>
            <a:off x="223902" y="1406737"/>
            <a:ext cx="2135834" cy="4324261"/>
          </a:xfrm>
          <a:prstGeom prst="rect">
            <a:avLst/>
          </a:prstGeom>
          <a:noFill/>
        </p:spPr>
        <p:txBody>
          <a:bodyPr wrap="square" rtlCol="0">
            <a:spAutoFit/>
          </a:bodyPr>
          <a:lstStyle/>
          <a:p>
            <a:r>
              <a:rPr lang="en-US" sz="1100" i="1" dirty="0">
                <a:solidFill>
                  <a:srgbClr val="0070C0"/>
                </a:solidFill>
              </a:rPr>
              <a:t>The filters should be additive (ANDs). Be sure to provide visual indication of which ones have been selected. I’ve indicated two possibilities here (bold and checkboxes). </a:t>
            </a:r>
          </a:p>
          <a:p>
            <a:endParaRPr lang="en-US" sz="1100" i="1" dirty="0">
              <a:solidFill>
                <a:srgbClr val="0070C0"/>
              </a:solidFill>
            </a:endParaRPr>
          </a:p>
          <a:p>
            <a:r>
              <a:rPr lang="en-US" sz="1100" i="1" dirty="0">
                <a:solidFill>
                  <a:srgbClr val="0070C0"/>
                </a:solidFill>
              </a:rPr>
              <a:t>In this example, you would display all the songs with the word “love” in the title with a year or either 2016 or 2018 who genre is either Art Pop or Country.</a:t>
            </a:r>
          </a:p>
          <a:p>
            <a:endParaRPr lang="en-US" sz="1100" i="1" dirty="0">
              <a:solidFill>
                <a:srgbClr val="0070C0"/>
              </a:solidFill>
            </a:endParaRPr>
          </a:p>
          <a:p>
            <a:r>
              <a:rPr lang="en-US" sz="1100" i="1" dirty="0">
                <a:solidFill>
                  <a:srgbClr val="0070C0"/>
                </a:solidFill>
              </a:rPr>
              <a:t>Need to provide a way to remove a filter.</a:t>
            </a:r>
          </a:p>
          <a:p>
            <a:endParaRPr lang="en-US" sz="1100" i="1" dirty="0">
              <a:solidFill>
                <a:srgbClr val="0070C0"/>
              </a:solidFill>
            </a:endParaRPr>
          </a:p>
          <a:p>
            <a:r>
              <a:rPr lang="en-US" sz="1100" i="1" dirty="0">
                <a:solidFill>
                  <a:srgbClr val="0070C0"/>
                </a:solidFill>
              </a:rPr>
              <a:t>Every time a new filter is added or removed, update the list of matching songs. If there are no matches, tell the user that this is the case.</a:t>
            </a:r>
          </a:p>
          <a:p>
            <a:endParaRPr lang="en-US" sz="1100" i="1" dirty="0">
              <a:solidFill>
                <a:srgbClr val="0070C0"/>
              </a:solidFill>
            </a:endParaRPr>
          </a:p>
          <a:p>
            <a:r>
              <a:rPr lang="en-US" sz="1100" i="1" dirty="0">
                <a:solidFill>
                  <a:srgbClr val="0070C0"/>
                </a:solidFill>
              </a:rPr>
              <a:t>I’d encourage you to take a look at online stores or music sites for ideas.</a:t>
            </a:r>
          </a:p>
        </p:txBody>
      </p:sp>
      <p:sp>
        <p:nvSpPr>
          <p:cNvPr id="43" name="TextBox 42">
            <a:extLst>
              <a:ext uri="{FF2B5EF4-FFF2-40B4-BE49-F238E27FC236}">
                <a16:creationId xmlns:a16="http://schemas.microsoft.com/office/drawing/2014/main" id="{824FE680-2505-8EB9-BA2B-6B00EB20BC3B}"/>
              </a:ext>
            </a:extLst>
          </p:cNvPr>
          <p:cNvSpPr txBox="1"/>
          <p:nvPr/>
        </p:nvSpPr>
        <p:spPr>
          <a:xfrm>
            <a:off x="6449543" y="1772945"/>
            <a:ext cx="720607" cy="153888"/>
          </a:xfrm>
          <a:prstGeom prst="rect">
            <a:avLst/>
          </a:prstGeom>
          <a:noFill/>
          <a:ln>
            <a:solidFill>
              <a:schemeClr val="bg1">
                <a:lumMod val="75000"/>
              </a:schemeClr>
            </a:solidFill>
          </a:ln>
        </p:spPr>
        <p:txBody>
          <a:bodyPr wrap="square" lIns="0" tIns="0" rIns="0" bIns="0" rtlCol="0">
            <a:spAutoFit/>
          </a:bodyPr>
          <a:lstStyle/>
          <a:p>
            <a:pPr algn="ctr"/>
            <a:r>
              <a:rPr lang="en-US" sz="1000" dirty="0"/>
              <a:t>X Clear All</a:t>
            </a:r>
          </a:p>
        </p:txBody>
      </p:sp>
      <p:sp>
        <p:nvSpPr>
          <p:cNvPr id="44" name="TextBox 43">
            <a:extLst>
              <a:ext uri="{FF2B5EF4-FFF2-40B4-BE49-F238E27FC236}">
                <a16:creationId xmlns:a16="http://schemas.microsoft.com/office/drawing/2014/main" id="{D78F53EA-5B88-89F0-86B1-49CE409ACC27}"/>
              </a:ext>
            </a:extLst>
          </p:cNvPr>
          <p:cNvSpPr txBox="1"/>
          <p:nvPr/>
        </p:nvSpPr>
        <p:spPr>
          <a:xfrm>
            <a:off x="9063184" y="1997462"/>
            <a:ext cx="1995341" cy="1277273"/>
          </a:xfrm>
          <a:prstGeom prst="rect">
            <a:avLst/>
          </a:prstGeom>
          <a:noFill/>
        </p:spPr>
        <p:txBody>
          <a:bodyPr wrap="square" rtlCol="0">
            <a:spAutoFit/>
          </a:bodyPr>
          <a:lstStyle/>
          <a:p>
            <a:r>
              <a:rPr lang="en-US" sz="1100" i="1" dirty="0">
                <a:solidFill>
                  <a:srgbClr val="0070C0"/>
                </a:solidFill>
              </a:rPr>
              <a:t>Somewhere you need to show the current filters (and provide easy way to clear them). Here you can see the five filters in place. Perhaps you allow the user to remove these filters selectively here.</a:t>
            </a:r>
          </a:p>
        </p:txBody>
      </p:sp>
      <p:sp>
        <p:nvSpPr>
          <p:cNvPr id="89" name="TextBox 88">
            <a:extLst>
              <a:ext uri="{FF2B5EF4-FFF2-40B4-BE49-F238E27FC236}">
                <a16:creationId xmlns:a16="http://schemas.microsoft.com/office/drawing/2014/main" id="{EC46FC62-3851-08FA-3E88-8403B8E01113}"/>
              </a:ext>
            </a:extLst>
          </p:cNvPr>
          <p:cNvSpPr txBox="1"/>
          <p:nvPr/>
        </p:nvSpPr>
        <p:spPr>
          <a:xfrm>
            <a:off x="9063184" y="1001228"/>
            <a:ext cx="1885019" cy="938719"/>
          </a:xfrm>
          <a:prstGeom prst="rect">
            <a:avLst/>
          </a:prstGeom>
          <a:noFill/>
        </p:spPr>
        <p:txBody>
          <a:bodyPr wrap="square" rtlCol="0">
            <a:spAutoFit/>
          </a:bodyPr>
          <a:lstStyle/>
          <a:p>
            <a:r>
              <a:rPr lang="en-US" sz="1100" i="1" dirty="0">
                <a:solidFill>
                  <a:srgbClr val="0070C0"/>
                </a:solidFill>
              </a:rPr>
              <a:t>Should also be a way to change the sort order between: song title, year, and artist name. The default should be song title.</a:t>
            </a:r>
          </a:p>
        </p:txBody>
      </p:sp>
      <p:cxnSp>
        <p:nvCxnSpPr>
          <p:cNvPr id="90" name="Straight Connector 89">
            <a:extLst>
              <a:ext uri="{FF2B5EF4-FFF2-40B4-BE49-F238E27FC236}">
                <a16:creationId xmlns:a16="http://schemas.microsoft.com/office/drawing/2014/main" id="{9871AA41-BBB3-63D2-6A1E-71755D90A81C}"/>
              </a:ext>
            </a:extLst>
          </p:cNvPr>
          <p:cNvCxnSpPr>
            <a:cxnSpLocks/>
          </p:cNvCxnSpPr>
          <p:nvPr/>
        </p:nvCxnSpPr>
        <p:spPr>
          <a:xfrm flipH="1">
            <a:off x="8434699" y="1490487"/>
            <a:ext cx="555994" cy="0"/>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9D14E99B-3E9C-D0F0-C732-58FBB9C26107}"/>
              </a:ext>
            </a:extLst>
          </p:cNvPr>
          <p:cNvCxnSpPr>
            <a:cxnSpLocks/>
          </p:cNvCxnSpPr>
          <p:nvPr/>
        </p:nvCxnSpPr>
        <p:spPr>
          <a:xfrm flipH="1">
            <a:off x="8301905" y="2162564"/>
            <a:ext cx="730389" cy="0"/>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3950EA9D-CB63-27AA-CB65-47D813DD54E9}"/>
              </a:ext>
            </a:extLst>
          </p:cNvPr>
          <p:cNvCxnSpPr>
            <a:cxnSpLocks/>
          </p:cNvCxnSpPr>
          <p:nvPr/>
        </p:nvCxnSpPr>
        <p:spPr>
          <a:xfrm flipV="1">
            <a:off x="8283081" y="3685387"/>
            <a:ext cx="0" cy="531817"/>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F8DF8E8A-A07A-F3BB-CA18-DC727D139327}"/>
              </a:ext>
            </a:extLst>
          </p:cNvPr>
          <p:cNvSpPr txBox="1"/>
          <p:nvPr/>
        </p:nvSpPr>
        <p:spPr>
          <a:xfrm>
            <a:off x="4887330" y="1024455"/>
            <a:ext cx="1337443" cy="276999"/>
          </a:xfrm>
          <a:prstGeom prst="rect">
            <a:avLst/>
          </a:prstGeom>
          <a:noFill/>
        </p:spPr>
        <p:txBody>
          <a:bodyPr wrap="square" rtlCol="0">
            <a:spAutoFit/>
          </a:bodyPr>
          <a:lstStyle/>
          <a:p>
            <a:r>
              <a:rPr lang="en-US" sz="1200" b="1" dirty="0"/>
              <a:t>Songs</a:t>
            </a:r>
          </a:p>
        </p:txBody>
      </p:sp>
      <p:sp>
        <p:nvSpPr>
          <p:cNvPr id="2" name="Rectangle 1">
            <a:extLst>
              <a:ext uri="{FF2B5EF4-FFF2-40B4-BE49-F238E27FC236}">
                <a16:creationId xmlns:a16="http://schemas.microsoft.com/office/drawing/2014/main" id="{93508B55-56E7-8755-D9F7-86E6224801F4}"/>
              </a:ext>
            </a:extLst>
          </p:cNvPr>
          <p:cNvSpPr/>
          <p:nvPr/>
        </p:nvSpPr>
        <p:spPr>
          <a:xfrm>
            <a:off x="2799732" y="4047893"/>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CA" sz="1000" dirty="0">
              <a:solidFill>
                <a:schemeClr val="bg1">
                  <a:lumMod val="65000"/>
                </a:schemeClr>
              </a:solidFill>
            </a:endParaRPr>
          </a:p>
        </p:txBody>
      </p:sp>
      <p:sp>
        <p:nvSpPr>
          <p:cNvPr id="5" name="Rectangle 4">
            <a:extLst>
              <a:ext uri="{FF2B5EF4-FFF2-40B4-BE49-F238E27FC236}">
                <a16:creationId xmlns:a16="http://schemas.microsoft.com/office/drawing/2014/main" id="{F7865A08-72D5-1044-C8B5-4A9514E43B11}"/>
              </a:ext>
            </a:extLst>
          </p:cNvPr>
          <p:cNvSpPr/>
          <p:nvPr/>
        </p:nvSpPr>
        <p:spPr>
          <a:xfrm>
            <a:off x="2799731" y="4283680"/>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10" name="Rectangle 9">
            <a:extLst>
              <a:ext uri="{FF2B5EF4-FFF2-40B4-BE49-F238E27FC236}">
                <a16:creationId xmlns:a16="http://schemas.microsoft.com/office/drawing/2014/main" id="{1252B8B2-D7FF-E278-1321-8B475E072470}"/>
              </a:ext>
            </a:extLst>
          </p:cNvPr>
          <p:cNvSpPr/>
          <p:nvPr/>
        </p:nvSpPr>
        <p:spPr>
          <a:xfrm>
            <a:off x="2793069" y="4529150"/>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CA" sz="1000" dirty="0">
              <a:solidFill>
                <a:schemeClr val="bg1">
                  <a:lumMod val="65000"/>
                </a:schemeClr>
              </a:solidFill>
            </a:endParaRPr>
          </a:p>
        </p:txBody>
      </p:sp>
      <p:sp>
        <p:nvSpPr>
          <p:cNvPr id="11" name="Rectangle 10">
            <a:extLst>
              <a:ext uri="{FF2B5EF4-FFF2-40B4-BE49-F238E27FC236}">
                <a16:creationId xmlns:a16="http://schemas.microsoft.com/office/drawing/2014/main" id="{7D2B413C-D854-15E6-222C-9794235D4A32}"/>
              </a:ext>
            </a:extLst>
          </p:cNvPr>
          <p:cNvSpPr/>
          <p:nvPr/>
        </p:nvSpPr>
        <p:spPr>
          <a:xfrm>
            <a:off x="2802506" y="4782944"/>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19" name="Rectangle 18">
            <a:extLst>
              <a:ext uri="{FF2B5EF4-FFF2-40B4-BE49-F238E27FC236}">
                <a16:creationId xmlns:a16="http://schemas.microsoft.com/office/drawing/2014/main" id="{5CF7F147-F3CE-CF12-EC3C-D2C947CDC745}"/>
              </a:ext>
            </a:extLst>
          </p:cNvPr>
          <p:cNvSpPr/>
          <p:nvPr/>
        </p:nvSpPr>
        <p:spPr>
          <a:xfrm>
            <a:off x="3067721" y="2019748"/>
            <a:ext cx="1272210" cy="246221"/>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21" name="Rectangle 20">
            <a:extLst>
              <a:ext uri="{FF2B5EF4-FFF2-40B4-BE49-F238E27FC236}">
                <a16:creationId xmlns:a16="http://schemas.microsoft.com/office/drawing/2014/main" id="{74F088A9-4339-C8A9-2BC9-21FC5D439DB1}"/>
              </a:ext>
            </a:extLst>
          </p:cNvPr>
          <p:cNvSpPr/>
          <p:nvPr/>
        </p:nvSpPr>
        <p:spPr>
          <a:xfrm>
            <a:off x="2793260" y="2048781"/>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X</a:t>
            </a:r>
          </a:p>
        </p:txBody>
      </p:sp>
      <p:sp>
        <p:nvSpPr>
          <p:cNvPr id="22" name="TextBox 21">
            <a:extLst>
              <a:ext uri="{FF2B5EF4-FFF2-40B4-BE49-F238E27FC236}">
                <a16:creationId xmlns:a16="http://schemas.microsoft.com/office/drawing/2014/main" id="{97DC0865-5DCB-105E-33E4-22C7AF272455}"/>
              </a:ext>
            </a:extLst>
          </p:cNvPr>
          <p:cNvSpPr txBox="1"/>
          <p:nvPr/>
        </p:nvSpPr>
        <p:spPr>
          <a:xfrm>
            <a:off x="2686232" y="2506230"/>
            <a:ext cx="1337443" cy="246221"/>
          </a:xfrm>
          <a:prstGeom prst="rect">
            <a:avLst/>
          </a:prstGeom>
          <a:noFill/>
        </p:spPr>
        <p:txBody>
          <a:bodyPr wrap="square" rtlCol="0">
            <a:spAutoFit/>
          </a:bodyPr>
          <a:lstStyle/>
          <a:p>
            <a:r>
              <a:rPr lang="en-US" sz="1000" b="1" dirty="0"/>
              <a:t>Years</a:t>
            </a:r>
          </a:p>
        </p:txBody>
      </p:sp>
      <p:sp>
        <p:nvSpPr>
          <p:cNvPr id="23" name="Rectangle 22">
            <a:extLst>
              <a:ext uri="{FF2B5EF4-FFF2-40B4-BE49-F238E27FC236}">
                <a16:creationId xmlns:a16="http://schemas.microsoft.com/office/drawing/2014/main" id="{85F6CB5A-B4A3-4743-D8DA-773B85352FC6}"/>
              </a:ext>
            </a:extLst>
          </p:cNvPr>
          <p:cNvSpPr/>
          <p:nvPr/>
        </p:nvSpPr>
        <p:spPr>
          <a:xfrm>
            <a:off x="2836648" y="2800881"/>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X</a:t>
            </a:r>
          </a:p>
        </p:txBody>
      </p:sp>
      <p:sp>
        <p:nvSpPr>
          <p:cNvPr id="29" name="Rectangle 28">
            <a:extLst>
              <a:ext uri="{FF2B5EF4-FFF2-40B4-BE49-F238E27FC236}">
                <a16:creationId xmlns:a16="http://schemas.microsoft.com/office/drawing/2014/main" id="{30DB5E79-C520-6E48-881E-C605D11542A3}"/>
              </a:ext>
            </a:extLst>
          </p:cNvPr>
          <p:cNvSpPr/>
          <p:nvPr/>
        </p:nvSpPr>
        <p:spPr>
          <a:xfrm>
            <a:off x="2836647" y="3036668"/>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30" name="TextBox 29">
            <a:extLst>
              <a:ext uri="{FF2B5EF4-FFF2-40B4-BE49-F238E27FC236}">
                <a16:creationId xmlns:a16="http://schemas.microsoft.com/office/drawing/2014/main" id="{731FA1B3-1F02-67FB-C08E-BA951821E3F7}"/>
              </a:ext>
            </a:extLst>
          </p:cNvPr>
          <p:cNvSpPr txBox="1"/>
          <p:nvPr/>
        </p:nvSpPr>
        <p:spPr>
          <a:xfrm>
            <a:off x="3041549" y="2753156"/>
            <a:ext cx="806921" cy="246221"/>
          </a:xfrm>
          <a:prstGeom prst="rect">
            <a:avLst/>
          </a:prstGeom>
          <a:noFill/>
        </p:spPr>
        <p:txBody>
          <a:bodyPr wrap="square" rtlCol="0">
            <a:spAutoFit/>
          </a:bodyPr>
          <a:lstStyle/>
          <a:p>
            <a:r>
              <a:rPr lang="en-US" sz="1000" dirty="0"/>
              <a:t>2016</a:t>
            </a:r>
          </a:p>
        </p:txBody>
      </p:sp>
      <p:sp>
        <p:nvSpPr>
          <p:cNvPr id="39" name="TextBox 38">
            <a:extLst>
              <a:ext uri="{FF2B5EF4-FFF2-40B4-BE49-F238E27FC236}">
                <a16:creationId xmlns:a16="http://schemas.microsoft.com/office/drawing/2014/main" id="{4A51795B-65B6-7F7D-0CD1-B2F22956DFCA}"/>
              </a:ext>
            </a:extLst>
          </p:cNvPr>
          <p:cNvSpPr txBox="1"/>
          <p:nvPr/>
        </p:nvSpPr>
        <p:spPr>
          <a:xfrm>
            <a:off x="3054590" y="2983051"/>
            <a:ext cx="806921" cy="246221"/>
          </a:xfrm>
          <a:prstGeom prst="rect">
            <a:avLst/>
          </a:prstGeom>
          <a:noFill/>
        </p:spPr>
        <p:txBody>
          <a:bodyPr wrap="square" rtlCol="0">
            <a:spAutoFit/>
          </a:bodyPr>
          <a:lstStyle/>
          <a:p>
            <a:r>
              <a:rPr lang="en-US" sz="1000" dirty="0">
                <a:solidFill>
                  <a:schemeClr val="bg1">
                    <a:lumMod val="50000"/>
                  </a:schemeClr>
                </a:solidFill>
              </a:rPr>
              <a:t>2017</a:t>
            </a:r>
          </a:p>
        </p:txBody>
      </p:sp>
      <p:sp>
        <p:nvSpPr>
          <p:cNvPr id="40" name="TextBox 39">
            <a:extLst>
              <a:ext uri="{FF2B5EF4-FFF2-40B4-BE49-F238E27FC236}">
                <a16:creationId xmlns:a16="http://schemas.microsoft.com/office/drawing/2014/main" id="{5F225294-5B84-1877-57DA-9B38BFCAE67A}"/>
              </a:ext>
            </a:extLst>
          </p:cNvPr>
          <p:cNvSpPr txBox="1"/>
          <p:nvPr/>
        </p:nvSpPr>
        <p:spPr>
          <a:xfrm>
            <a:off x="3054590" y="3233773"/>
            <a:ext cx="806921" cy="246221"/>
          </a:xfrm>
          <a:prstGeom prst="rect">
            <a:avLst/>
          </a:prstGeom>
          <a:noFill/>
        </p:spPr>
        <p:txBody>
          <a:bodyPr wrap="square" rtlCol="0">
            <a:spAutoFit/>
          </a:bodyPr>
          <a:lstStyle/>
          <a:p>
            <a:r>
              <a:rPr lang="en-US" sz="1000" dirty="0"/>
              <a:t>2018</a:t>
            </a:r>
            <a:r>
              <a:rPr lang="en-US" sz="1000" dirty="0">
                <a:solidFill>
                  <a:schemeClr val="bg1">
                    <a:lumMod val="50000"/>
                  </a:schemeClr>
                </a:solidFill>
              </a:rPr>
              <a:t> </a:t>
            </a:r>
          </a:p>
        </p:txBody>
      </p:sp>
      <p:sp>
        <p:nvSpPr>
          <p:cNvPr id="41" name="Rectangle 40">
            <a:extLst>
              <a:ext uri="{FF2B5EF4-FFF2-40B4-BE49-F238E27FC236}">
                <a16:creationId xmlns:a16="http://schemas.microsoft.com/office/drawing/2014/main" id="{D308EBAB-F660-14C7-A043-708EFC5BEBE6}"/>
              </a:ext>
            </a:extLst>
          </p:cNvPr>
          <p:cNvSpPr/>
          <p:nvPr/>
        </p:nvSpPr>
        <p:spPr>
          <a:xfrm>
            <a:off x="2829985" y="3282138"/>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X</a:t>
            </a:r>
          </a:p>
        </p:txBody>
      </p:sp>
      <p:sp>
        <p:nvSpPr>
          <p:cNvPr id="42" name="Isosceles Triangle 41">
            <a:extLst>
              <a:ext uri="{FF2B5EF4-FFF2-40B4-BE49-F238E27FC236}">
                <a16:creationId xmlns:a16="http://schemas.microsoft.com/office/drawing/2014/main" id="{7CF627CE-8F50-3F32-1A5A-41F9A6283FFA}"/>
              </a:ext>
            </a:extLst>
          </p:cNvPr>
          <p:cNvSpPr/>
          <p:nvPr/>
        </p:nvSpPr>
        <p:spPr>
          <a:xfrm rot="10800000">
            <a:off x="4313638" y="2609767"/>
            <a:ext cx="89409" cy="6986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4" name="TextBox 73">
            <a:extLst>
              <a:ext uri="{FF2B5EF4-FFF2-40B4-BE49-F238E27FC236}">
                <a16:creationId xmlns:a16="http://schemas.microsoft.com/office/drawing/2014/main" id="{8D74EE42-FA50-B2CF-3382-3A65B230B08D}"/>
              </a:ext>
            </a:extLst>
          </p:cNvPr>
          <p:cNvSpPr txBox="1"/>
          <p:nvPr/>
        </p:nvSpPr>
        <p:spPr>
          <a:xfrm>
            <a:off x="3078999" y="2015247"/>
            <a:ext cx="806921" cy="246221"/>
          </a:xfrm>
          <a:prstGeom prst="rect">
            <a:avLst/>
          </a:prstGeom>
          <a:noFill/>
        </p:spPr>
        <p:txBody>
          <a:bodyPr wrap="square" rtlCol="0">
            <a:spAutoFit/>
          </a:bodyPr>
          <a:lstStyle/>
          <a:p>
            <a:r>
              <a:rPr lang="en-US" sz="1000" dirty="0"/>
              <a:t>love</a:t>
            </a:r>
            <a:r>
              <a:rPr lang="en-US" sz="1000" dirty="0">
                <a:solidFill>
                  <a:schemeClr val="bg1">
                    <a:lumMod val="50000"/>
                  </a:schemeClr>
                </a:solidFill>
              </a:rPr>
              <a:t> </a:t>
            </a:r>
          </a:p>
        </p:txBody>
      </p:sp>
      <p:sp>
        <p:nvSpPr>
          <p:cNvPr id="87" name="TextBox 86">
            <a:extLst>
              <a:ext uri="{FF2B5EF4-FFF2-40B4-BE49-F238E27FC236}">
                <a16:creationId xmlns:a16="http://schemas.microsoft.com/office/drawing/2014/main" id="{DE6D7C32-5C5F-C1A6-EFC7-1562901C1382}"/>
              </a:ext>
            </a:extLst>
          </p:cNvPr>
          <p:cNvSpPr txBox="1"/>
          <p:nvPr/>
        </p:nvSpPr>
        <p:spPr>
          <a:xfrm>
            <a:off x="6342858" y="2401569"/>
            <a:ext cx="1141396" cy="246221"/>
          </a:xfrm>
          <a:prstGeom prst="rect">
            <a:avLst/>
          </a:prstGeom>
          <a:noFill/>
        </p:spPr>
        <p:txBody>
          <a:bodyPr wrap="square" rtlCol="0">
            <a:spAutoFit/>
          </a:bodyPr>
          <a:lstStyle/>
          <a:p>
            <a:r>
              <a:rPr lang="en-US" sz="1000" b="1" dirty="0"/>
              <a:t>Artist</a:t>
            </a:r>
          </a:p>
        </p:txBody>
      </p:sp>
      <p:sp>
        <p:nvSpPr>
          <p:cNvPr id="88" name="TextBox 87">
            <a:extLst>
              <a:ext uri="{FF2B5EF4-FFF2-40B4-BE49-F238E27FC236}">
                <a16:creationId xmlns:a16="http://schemas.microsoft.com/office/drawing/2014/main" id="{FCF2D5DA-AF8D-2B2E-E484-A7DAD6B49660}"/>
              </a:ext>
            </a:extLst>
          </p:cNvPr>
          <p:cNvSpPr txBox="1"/>
          <p:nvPr/>
        </p:nvSpPr>
        <p:spPr>
          <a:xfrm>
            <a:off x="7372977" y="2395096"/>
            <a:ext cx="1141396" cy="246221"/>
          </a:xfrm>
          <a:prstGeom prst="rect">
            <a:avLst/>
          </a:prstGeom>
          <a:noFill/>
        </p:spPr>
        <p:txBody>
          <a:bodyPr wrap="square" rtlCol="0">
            <a:spAutoFit/>
          </a:bodyPr>
          <a:lstStyle/>
          <a:p>
            <a:r>
              <a:rPr lang="en-US" sz="1000" b="1" dirty="0"/>
              <a:t>Year</a:t>
            </a:r>
          </a:p>
        </p:txBody>
      </p:sp>
      <p:sp>
        <p:nvSpPr>
          <p:cNvPr id="91" name="TextBox 90">
            <a:extLst>
              <a:ext uri="{FF2B5EF4-FFF2-40B4-BE49-F238E27FC236}">
                <a16:creationId xmlns:a16="http://schemas.microsoft.com/office/drawing/2014/main" id="{E3F130B0-EC3B-15C8-56A0-727785E537BE}"/>
              </a:ext>
            </a:extLst>
          </p:cNvPr>
          <p:cNvSpPr txBox="1"/>
          <p:nvPr/>
        </p:nvSpPr>
        <p:spPr>
          <a:xfrm>
            <a:off x="4963981" y="2699891"/>
            <a:ext cx="1517763" cy="246221"/>
          </a:xfrm>
          <a:prstGeom prst="rect">
            <a:avLst/>
          </a:prstGeom>
          <a:noFill/>
        </p:spPr>
        <p:txBody>
          <a:bodyPr wrap="square" rtlCol="0">
            <a:spAutoFit/>
          </a:bodyPr>
          <a:lstStyle/>
          <a:p>
            <a:r>
              <a:rPr lang="en-US" sz="1000" dirty="0"/>
              <a:t>Love is here</a:t>
            </a:r>
          </a:p>
        </p:txBody>
      </p:sp>
      <p:sp>
        <p:nvSpPr>
          <p:cNvPr id="92" name="TextBox 91">
            <a:extLst>
              <a:ext uri="{FF2B5EF4-FFF2-40B4-BE49-F238E27FC236}">
                <a16:creationId xmlns:a16="http://schemas.microsoft.com/office/drawing/2014/main" id="{9D45DB82-5A62-59A6-BB46-B30BF146B306}"/>
              </a:ext>
            </a:extLst>
          </p:cNvPr>
          <p:cNvSpPr txBox="1"/>
          <p:nvPr/>
        </p:nvSpPr>
        <p:spPr>
          <a:xfrm>
            <a:off x="6375060" y="2691748"/>
            <a:ext cx="1141396" cy="246221"/>
          </a:xfrm>
          <a:prstGeom prst="rect">
            <a:avLst/>
          </a:prstGeom>
          <a:noFill/>
        </p:spPr>
        <p:txBody>
          <a:bodyPr wrap="square" rtlCol="0">
            <a:spAutoFit/>
          </a:bodyPr>
          <a:lstStyle/>
          <a:p>
            <a:r>
              <a:rPr lang="en-US" sz="1000" dirty="0"/>
              <a:t>Foo Bar</a:t>
            </a:r>
          </a:p>
        </p:txBody>
      </p:sp>
      <p:sp>
        <p:nvSpPr>
          <p:cNvPr id="94" name="TextBox 93">
            <a:extLst>
              <a:ext uri="{FF2B5EF4-FFF2-40B4-BE49-F238E27FC236}">
                <a16:creationId xmlns:a16="http://schemas.microsoft.com/office/drawing/2014/main" id="{3D259697-CA74-B4B3-F03B-2556A5770B9A}"/>
              </a:ext>
            </a:extLst>
          </p:cNvPr>
          <p:cNvSpPr txBox="1"/>
          <p:nvPr/>
        </p:nvSpPr>
        <p:spPr>
          <a:xfrm>
            <a:off x="7405179" y="2685275"/>
            <a:ext cx="551430" cy="246221"/>
          </a:xfrm>
          <a:prstGeom prst="rect">
            <a:avLst/>
          </a:prstGeom>
          <a:noFill/>
        </p:spPr>
        <p:txBody>
          <a:bodyPr wrap="square" rtlCol="0">
            <a:spAutoFit/>
          </a:bodyPr>
          <a:lstStyle/>
          <a:p>
            <a:r>
              <a:rPr lang="en-US" sz="1000" dirty="0"/>
              <a:t>2018</a:t>
            </a:r>
          </a:p>
        </p:txBody>
      </p:sp>
      <p:sp>
        <p:nvSpPr>
          <p:cNvPr id="97" name="Rectangle 96">
            <a:extLst>
              <a:ext uri="{FF2B5EF4-FFF2-40B4-BE49-F238E27FC236}">
                <a16:creationId xmlns:a16="http://schemas.microsoft.com/office/drawing/2014/main" id="{8A355F73-3C1E-BA9B-7010-2193A0BCD1D1}"/>
              </a:ext>
            </a:extLst>
          </p:cNvPr>
          <p:cNvSpPr/>
          <p:nvPr/>
        </p:nvSpPr>
        <p:spPr>
          <a:xfrm>
            <a:off x="8199377" y="2959578"/>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98" name="TextBox 97">
            <a:extLst>
              <a:ext uri="{FF2B5EF4-FFF2-40B4-BE49-F238E27FC236}">
                <a16:creationId xmlns:a16="http://schemas.microsoft.com/office/drawing/2014/main" id="{F3F10C15-ABDA-9849-EFC1-4018AAAB11CA}"/>
              </a:ext>
            </a:extLst>
          </p:cNvPr>
          <p:cNvSpPr txBox="1"/>
          <p:nvPr/>
        </p:nvSpPr>
        <p:spPr>
          <a:xfrm>
            <a:off x="4963981" y="2938147"/>
            <a:ext cx="1517763" cy="246221"/>
          </a:xfrm>
          <a:prstGeom prst="rect">
            <a:avLst/>
          </a:prstGeom>
          <a:noFill/>
        </p:spPr>
        <p:txBody>
          <a:bodyPr wrap="square" rtlCol="0">
            <a:spAutoFit/>
          </a:bodyPr>
          <a:lstStyle/>
          <a:p>
            <a:r>
              <a:rPr lang="en-US" sz="1000" dirty="0"/>
              <a:t>Title</a:t>
            </a:r>
          </a:p>
        </p:txBody>
      </p:sp>
      <p:sp>
        <p:nvSpPr>
          <p:cNvPr id="99" name="TextBox 98">
            <a:extLst>
              <a:ext uri="{FF2B5EF4-FFF2-40B4-BE49-F238E27FC236}">
                <a16:creationId xmlns:a16="http://schemas.microsoft.com/office/drawing/2014/main" id="{C426A020-28CC-1317-D320-E675961DF7E4}"/>
              </a:ext>
            </a:extLst>
          </p:cNvPr>
          <p:cNvSpPr txBox="1"/>
          <p:nvPr/>
        </p:nvSpPr>
        <p:spPr>
          <a:xfrm>
            <a:off x="6375060" y="2930004"/>
            <a:ext cx="1141396" cy="246221"/>
          </a:xfrm>
          <a:prstGeom prst="rect">
            <a:avLst/>
          </a:prstGeom>
          <a:noFill/>
        </p:spPr>
        <p:txBody>
          <a:bodyPr wrap="square" rtlCol="0">
            <a:spAutoFit/>
          </a:bodyPr>
          <a:lstStyle/>
          <a:p>
            <a:r>
              <a:rPr lang="en-US" sz="1000" dirty="0"/>
              <a:t>Artist</a:t>
            </a:r>
          </a:p>
        </p:txBody>
      </p:sp>
      <p:sp>
        <p:nvSpPr>
          <p:cNvPr id="100" name="TextBox 99">
            <a:extLst>
              <a:ext uri="{FF2B5EF4-FFF2-40B4-BE49-F238E27FC236}">
                <a16:creationId xmlns:a16="http://schemas.microsoft.com/office/drawing/2014/main" id="{8D16AF13-773F-593F-0B94-80564B5881DE}"/>
              </a:ext>
            </a:extLst>
          </p:cNvPr>
          <p:cNvSpPr txBox="1"/>
          <p:nvPr/>
        </p:nvSpPr>
        <p:spPr>
          <a:xfrm>
            <a:off x="7405179" y="2923531"/>
            <a:ext cx="1141396" cy="246221"/>
          </a:xfrm>
          <a:prstGeom prst="rect">
            <a:avLst/>
          </a:prstGeom>
          <a:noFill/>
        </p:spPr>
        <p:txBody>
          <a:bodyPr wrap="square" rtlCol="0">
            <a:spAutoFit/>
          </a:bodyPr>
          <a:lstStyle/>
          <a:p>
            <a:r>
              <a:rPr lang="en-US" sz="1000" dirty="0"/>
              <a:t>year</a:t>
            </a:r>
          </a:p>
        </p:txBody>
      </p:sp>
      <p:sp>
        <p:nvSpPr>
          <p:cNvPr id="101" name="Rectangle 100">
            <a:extLst>
              <a:ext uri="{FF2B5EF4-FFF2-40B4-BE49-F238E27FC236}">
                <a16:creationId xmlns:a16="http://schemas.microsoft.com/office/drawing/2014/main" id="{8FCEF6B8-49D0-64EF-D084-D6278D532689}"/>
              </a:ext>
            </a:extLst>
          </p:cNvPr>
          <p:cNvSpPr/>
          <p:nvPr/>
        </p:nvSpPr>
        <p:spPr>
          <a:xfrm>
            <a:off x="8199377" y="3180778"/>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102" name="TextBox 101">
            <a:extLst>
              <a:ext uri="{FF2B5EF4-FFF2-40B4-BE49-F238E27FC236}">
                <a16:creationId xmlns:a16="http://schemas.microsoft.com/office/drawing/2014/main" id="{84E9189B-300C-462B-E89D-9F8194A24DA8}"/>
              </a:ext>
            </a:extLst>
          </p:cNvPr>
          <p:cNvSpPr txBox="1"/>
          <p:nvPr/>
        </p:nvSpPr>
        <p:spPr>
          <a:xfrm>
            <a:off x="4963981" y="3159347"/>
            <a:ext cx="1517763" cy="246221"/>
          </a:xfrm>
          <a:prstGeom prst="rect">
            <a:avLst/>
          </a:prstGeom>
          <a:noFill/>
        </p:spPr>
        <p:txBody>
          <a:bodyPr wrap="square" rtlCol="0">
            <a:spAutoFit/>
          </a:bodyPr>
          <a:lstStyle/>
          <a:p>
            <a:r>
              <a:rPr lang="en-US" sz="1000" dirty="0"/>
              <a:t>Title</a:t>
            </a:r>
          </a:p>
        </p:txBody>
      </p:sp>
      <p:sp>
        <p:nvSpPr>
          <p:cNvPr id="103" name="TextBox 102">
            <a:extLst>
              <a:ext uri="{FF2B5EF4-FFF2-40B4-BE49-F238E27FC236}">
                <a16:creationId xmlns:a16="http://schemas.microsoft.com/office/drawing/2014/main" id="{83EE81BA-12EC-A34F-8C9A-57127C4809CF}"/>
              </a:ext>
            </a:extLst>
          </p:cNvPr>
          <p:cNvSpPr txBox="1"/>
          <p:nvPr/>
        </p:nvSpPr>
        <p:spPr>
          <a:xfrm>
            <a:off x="6375060" y="3151204"/>
            <a:ext cx="1141396" cy="246221"/>
          </a:xfrm>
          <a:prstGeom prst="rect">
            <a:avLst/>
          </a:prstGeom>
          <a:noFill/>
        </p:spPr>
        <p:txBody>
          <a:bodyPr wrap="square" rtlCol="0">
            <a:spAutoFit/>
          </a:bodyPr>
          <a:lstStyle/>
          <a:p>
            <a:r>
              <a:rPr lang="en-US" sz="1000" dirty="0"/>
              <a:t>Artist</a:t>
            </a:r>
          </a:p>
        </p:txBody>
      </p:sp>
      <p:sp>
        <p:nvSpPr>
          <p:cNvPr id="104" name="TextBox 103">
            <a:extLst>
              <a:ext uri="{FF2B5EF4-FFF2-40B4-BE49-F238E27FC236}">
                <a16:creationId xmlns:a16="http://schemas.microsoft.com/office/drawing/2014/main" id="{8D9FD081-D74C-BFCD-E64D-A63FB84DF77A}"/>
              </a:ext>
            </a:extLst>
          </p:cNvPr>
          <p:cNvSpPr txBox="1"/>
          <p:nvPr/>
        </p:nvSpPr>
        <p:spPr>
          <a:xfrm>
            <a:off x="7405179" y="3144731"/>
            <a:ext cx="1141396" cy="246221"/>
          </a:xfrm>
          <a:prstGeom prst="rect">
            <a:avLst/>
          </a:prstGeom>
          <a:noFill/>
        </p:spPr>
        <p:txBody>
          <a:bodyPr wrap="square" rtlCol="0">
            <a:spAutoFit/>
          </a:bodyPr>
          <a:lstStyle/>
          <a:p>
            <a:r>
              <a:rPr lang="en-US" sz="1000" dirty="0"/>
              <a:t>year</a:t>
            </a:r>
          </a:p>
        </p:txBody>
      </p:sp>
      <p:sp>
        <p:nvSpPr>
          <p:cNvPr id="105" name="Rectangle 104">
            <a:extLst>
              <a:ext uri="{FF2B5EF4-FFF2-40B4-BE49-F238E27FC236}">
                <a16:creationId xmlns:a16="http://schemas.microsoft.com/office/drawing/2014/main" id="{D8FA82B3-0458-29EA-4DCE-E33F42FC6ACD}"/>
              </a:ext>
            </a:extLst>
          </p:cNvPr>
          <p:cNvSpPr/>
          <p:nvPr/>
        </p:nvSpPr>
        <p:spPr>
          <a:xfrm>
            <a:off x="8199377" y="3403365"/>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106" name="TextBox 105">
            <a:extLst>
              <a:ext uri="{FF2B5EF4-FFF2-40B4-BE49-F238E27FC236}">
                <a16:creationId xmlns:a16="http://schemas.microsoft.com/office/drawing/2014/main" id="{02E990FB-42B5-AB59-B8A6-555C3AB56946}"/>
              </a:ext>
            </a:extLst>
          </p:cNvPr>
          <p:cNvSpPr txBox="1"/>
          <p:nvPr/>
        </p:nvSpPr>
        <p:spPr>
          <a:xfrm>
            <a:off x="4963981" y="3381934"/>
            <a:ext cx="1517763" cy="246221"/>
          </a:xfrm>
          <a:prstGeom prst="rect">
            <a:avLst/>
          </a:prstGeom>
          <a:noFill/>
        </p:spPr>
        <p:txBody>
          <a:bodyPr wrap="square" rtlCol="0">
            <a:spAutoFit/>
          </a:bodyPr>
          <a:lstStyle/>
          <a:p>
            <a:r>
              <a:rPr lang="en-US" sz="1000" dirty="0"/>
              <a:t>Title</a:t>
            </a:r>
          </a:p>
        </p:txBody>
      </p:sp>
      <p:sp>
        <p:nvSpPr>
          <p:cNvPr id="107" name="TextBox 106">
            <a:extLst>
              <a:ext uri="{FF2B5EF4-FFF2-40B4-BE49-F238E27FC236}">
                <a16:creationId xmlns:a16="http://schemas.microsoft.com/office/drawing/2014/main" id="{67F49345-D952-6DD0-CCCD-B07C03CD0F6B}"/>
              </a:ext>
            </a:extLst>
          </p:cNvPr>
          <p:cNvSpPr txBox="1"/>
          <p:nvPr/>
        </p:nvSpPr>
        <p:spPr>
          <a:xfrm>
            <a:off x="6375060" y="3373791"/>
            <a:ext cx="1141396" cy="246221"/>
          </a:xfrm>
          <a:prstGeom prst="rect">
            <a:avLst/>
          </a:prstGeom>
          <a:noFill/>
        </p:spPr>
        <p:txBody>
          <a:bodyPr wrap="square" rtlCol="0">
            <a:spAutoFit/>
          </a:bodyPr>
          <a:lstStyle/>
          <a:p>
            <a:r>
              <a:rPr lang="en-US" sz="1000" dirty="0"/>
              <a:t>Artist</a:t>
            </a:r>
          </a:p>
        </p:txBody>
      </p:sp>
      <p:sp>
        <p:nvSpPr>
          <p:cNvPr id="108" name="TextBox 107">
            <a:extLst>
              <a:ext uri="{FF2B5EF4-FFF2-40B4-BE49-F238E27FC236}">
                <a16:creationId xmlns:a16="http://schemas.microsoft.com/office/drawing/2014/main" id="{F6D75475-EC1F-EB73-E914-12628B913380}"/>
              </a:ext>
            </a:extLst>
          </p:cNvPr>
          <p:cNvSpPr txBox="1"/>
          <p:nvPr/>
        </p:nvSpPr>
        <p:spPr>
          <a:xfrm>
            <a:off x="7405179" y="3367318"/>
            <a:ext cx="1141396" cy="246221"/>
          </a:xfrm>
          <a:prstGeom prst="rect">
            <a:avLst/>
          </a:prstGeom>
          <a:noFill/>
        </p:spPr>
        <p:txBody>
          <a:bodyPr wrap="square" rtlCol="0">
            <a:spAutoFit/>
          </a:bodyPr>
          <a:lstStyle/>
          <a:p>
            <a:r>
              <a:rPr lang="en-US" sz="1000" dirty="0"/>
              <a:t>year</a:t>
            </a:r>
          </a:p>
        </p:txBody>
      </p:sp>
      <p:sp>
        <p:nvSpPr>
          <p:cNvPr id="110" name="TextBox 109">
            <a:extLst>
              <a:ext uri="{FF2B5EF4-FFF2-40B4-BE49-F238E27FC236}">
                <a16:creationId xmlns:a16="http://schemas.microsoft.com/office/drawing/2014/main" id="{CB4FFF3B-19F1-4683-22AB-C5BEE8D9720D}"/>
              </a:ext>
            </a:extLst>
          </p:cNvPr>
          <p:cNvSpPr txBox="1"/>
          <p:nvPr/>
        </p:nvSpPr>
        <p:spPr>
          <a:xfrm>
            <a:off x="6150823" y="4232163"/>
            <a:ext cx="1110042" cy="938719"/>
          </a:xfrm>
          <a:prstGeom prst="rect">
            <a:avLst/>
          </a:prstGeom>
          <a:noFill/>
        </p:spPr>
        <p:txBody>
          <a:bodyPr wrap="square" rtlCol="0">
            <a:spAutoFit/>
          </a:bodyPr>
          <a:lstStyle/>
          <a:p>
            <a:r>
              <a:rPr lang="en-US" sz="1100" i="1" dirty="0">
                <a:solidFill>
                  <a:srgbClr val="0070C0"/>
                </a:solidFill>
              </a:rPr>
              <a:t>Each of these artist names should be links to the single artist  view</a:t>
            </a:r>
          </a:p>
        </p:txBody>
      </p:sp>
      <p:cxnSp>
        <p:nvCxnSpPr>
          <p:cNvPr id="111" name="Straight Connector 110">
            <a:extLst>
              <a:ext uri="{FF2B5EF4-FFF2-40B4-BE49-F238E27FC236}">
                <a16:creationId xmlns:a16="http://schemas.microsoft.com/office/drawing/2014/main" id="{2A0C3DCE-3907-C90D-3FA7-48157098BFB8}"/>
              </a:ext>
            </a:extLst>
          </p:cNvPr>
          <p:cNvCxnSpPr>
            <a:cxnSpLocks/>
          </p:cNvCxnSpPr>
          <p:nvPr/>
        </p:nvCxnSpPr>
        <p:spPr>
          <a:xfrm flipV="1">
            <a:off x="6582467" y="3642376"/>
            <a:ext cx="0" cy="531817"/>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16C6D78-4425-9108-7E04-2590F235FD68}"/>
              </a:ext>
            </a:extLst>
          </p:cNvPr>
          <p:cNvCxnSpPr>
            <a:cxnSpLocks/>
          </p:cNvCxnSpPr>
          <p:nvPr/>
        </p:nvCxnSpPr>
        <p:spPr>
          <a:xfrm flipV="1">
            <a:off x="5206595" y="3674622"/>
            <a:ext cx="0" cy="531817"/>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3" name="TextBox 112">
            <a:extLst>
              <a:ext uri="{FF2B5EF4-FFF2-40B4-BE49-F238E27FC236}">
                <a16:creationId xmlns:a16="http://schemas.microsoft.com/office/drawing/2014/main" id="{CAC7E28E-34FC-707D-33ED-F77A4F842218}"/>
              </a:ext>
            </a:extLst>
          </p:cNvPr>
          <p:cNvSpPr txBox="1"/>
          <p:nvPr/>
        </p:nvSpPr>
        <p:spPr>
          <a:xfrm>
            <a:off x="5764198" y="5711043"/>
            <a:ext cx="2135834" cy="600164"/>
          </a:xfrm>
          <a:prstGeom prst="rect">
            <a:avLst/>
          </a:prstGeom>
          <a:noFill/>
        </p:spPr>
        <p:txBody>
          <a:bodyPr wrap="square" rtlCol="0">
            <a:spAutoFit/>
          </a:bodyPr>
          <a:lstStyle/>
          <a:p>
            <a:r>
              <a:rPr lang="en-US" sz="1100" i="1" dirty="0">
                <a:solidFill>
                  <a:srgbClr val="0070C0"/>
                </a:solidFill>
              </a:rPr>
              <a:t>When user adds a song to playlist, then use some type of toaster notification (see Lab9b).</a:t>
            </a:r>
          </a:p>
        </p:txBody>
      </p:sp>
    </p:spTree>
    <p:extLst>
      <p:ext uri="{BB962C8B-B14F-4D97-AF65-F5344CB8AC3E}">
        <p14:creationId xmlns:p14="http://schemas.microsoft.com/office/powerpoint/2010/main" val="3188883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7298737-784A-0F4E-3A71-1001256D36B0}"/>
              </a:ext>
            </a:extLst>
          </p:cNvPr>
          <p:cNvSpPr/>
          <p:nvPr/>
        </p:nvSpPr>
        <p:spPr>
          <a:xfrm>
            <a:off x="2299164" y="435935"/>
            <a:ext cx="5215438" cy="60161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Rectangle 3">
            <a:extLst>
              <a:ext uri="{FF2B5EF4-FFF2-40B4-BE49-F238E27FC236}">
                <a16:creationId xmlns:a16="http://schemas.microsoft.com/office/drawing/2014/main" id="{FDB9A3BA-80F1-04ED-A743-46C4653B8273}"/>
              </a:ext>
            </a:extLst>
          </p:cNvPr>
          <p:cNvSpPr/>
          <p:nvPr/>
        </p:nvSpPr>
        <p:spPr>
          <a:xfrm>
            <a:off x="4593282" y="867373"/>
            <a:ext cx="2557068" cy="152857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AF3DC929-58C8-E36D-52BF-19F04476A38A}"/>
              </a:ext>
            </a:extLst>
          </p:cNvPr>
          <p:cNvSpPr txBox="1"/>
          <p:nvPr/>
        </p:nvSpPr>
        <p:spPr>
          <a:xfrm>
            <a:off x="2478376" y="567875"/>
            <a:ext cx="1946734" cy="307777"/>
          </a:xfrm>
          <a:prstGeom prst="rect">
            <a:avLst/>
          </a:prstGeom>
          <a:noFill/>
        </p:spPr>
        <p:txBody>
          <a:bodyPr wrap="square" rtlCol="0">
            <a:spAutoFit/>
          </a:bodyPr>
          <a:lstStyle/>
          <a:p>
            <a:r>
              <a:rPr lang="en-US" sz="1400" b="1" dirty="0"/>
              <a:t>Song Title</a:t>
            </a:r>
          </a:p>
        </p:txBody>
      </p:sp>
      <p:sp>
        <p:nvSpPr>
          <p:cNvPr id="7" name="TextBox 6">
            <a:extLst>
              <a:ext uri="{FF2B5EF4-FFF2-40B4-BE49-F238E27FC236}">
                <a16:creationId xmlns:a16="http://schemas.microsoft.com/office/drawing/2014/main" id="{B9ACDCE7-48AA-2A73-9B49-A55D341A58F9}"/>
              </a:ext>
            </a:extLst>
          </p:cNvPr>
          <p:cNvSpPr txBox="1"/>
          <p:nvPr/>
        </p:nvSpPr>
        <p:spPr>
          <a:xfrm>
            <a:off x="2497855" y="1265890"/>
            <a:ext cx="1929501" cy="246221"/>
          </a:xfrm>
          <a:prstGeom prst="rect">
            <a:avLst/>
          </a:prstGeom>
          <a:noFill/>
        </p:spPr>
        <p:txBody>
          <a:bodyPr wrap="square" rtlCol="0">
            <a:spAutoFit/>
          </a:bodyPr>
          <a:lstStyle/>
          <a:p>
            <a:r>
              <a:rPr lang="en-US" sz="1000" b="1" dirty="0"/>
              <a:t>Artist</a:t>
            </a:r>
          </a:p>
        </p:txBody>
      </p:sp>
      <p:sp>
        <p:nvSpPr>
          <p:cNvPr id="14" name="TextBox 13">
            <a:extLst>
              <a:ext uri="{FF2B5EF4-FFF2-40B4-BE49-F238E27FC236}">
                <a16:creationId xmlns:a16="http://schemas.microsoft.com/office/drawing/2014/main" id="{9D611A35-E11D-5A1A-7029-853C8D9DC76D}"/>
              </a:ext>
            </a:extLst>
          </p:cNvPr>
          <p:cNvSpPr txBox="1"/>
          <p:nvPr/>
        </p:nvSpPr>
        <p:spPr>
          <a:xfrm>
            <a:off x="2531781" y="2749943"/>
            <a:ext cx="720075" cy="246221"/>
          </a:xfrm>
          <a:prstGeom prst="rect">
            <a:avLst/>
          </a:prstGeom>
          <a:noFill/>
        </p:spPr>
        <p:txBody>
          <a:bodyPr wrap="square" rtlCol="0">
            <a:spAutoFit/>
          </a:bodyPr>
          <a:lstStyle/>
          <a:p>
            <a:r>
              <a:rPr lang="en-US" sz="1000" dirty="0"/>
              <a:t>Genre</a:t>
            </a:r>
          </a:p>
        </p:txBody>
      </p:sp>
      <p:sp>
        <p:nvSpPr>
          <p:cNvPr id="18" name="Rounded Rectangle 68">
            <a:extLst>
              <a:ext uri="{FF2B5EF4-FFF2-40B4-BE49-F238E27FC236}">
                <a16:creationId xmlns:a16="http://schemas.microsoft.com/office/drawing/2014/main" id="{5BFCA56B-6205-8684-45FC-F02AEFF25501}"/>
              </a:ext>
            </a:extLst>
          </p:cNvPr>
          <p:cNvSpPr/>
          <p:nvPr/>
        </p:nvSpPr>
        <p:spPr>
          <a:xfrm>
            <a:off x="2587871" y="3470741"/>
            <a:ext cx="1313006" cy="336318"/>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531DC686-5D64-95C1-A703-498773DE87F9}"/>
              </a:ext>
            </a:extLst>
          </p:cNvPr>
          <p:cNvSpPr txBox="1"/>
          <p:nvPr/>
        </p:nvSpPr>
        <p:spPr>
          <a:xfrm>
            <a:off x="2613409" y="3481497"/>
            <a:ext cx="1215846" cy="276999"/>
          </a:xfrm>
          <a:prstGeom prst="rect">
            <a:avLst/>
          </a:prstGeom>
          <a:noFill/>
        </p:spPr>
        <p:txBody>
          <a:bodyPr wrap="none" rtlCol="0">
            <a:spAutoFit/>
          </a:bodyPr>
          <a:lstStyle/>
          <a:p>
            <a:r>
              <a:rPr lang="en-US" sz="1200" b="1" dirty="0"/>
              <a:t>+ Add to Playlist</a:t>
            </a:r>
          </a:p>
        </p:txBody>
      </p:sp>
      <p:sp>
        <p:nvSpPr>
          <p:cNvPr id="22" name="TextBox 21">
            <a:extLst>
              <a:ext uri="{FF2B5EF4-FFF2-40B4-BE49-F238E27FC236}">
                <a16:creationId xmlns:a16="http://schemas.microsoft.com/office/drawing/2014/main" id="{F1F40122-9557-02D6-986E-EE719A61D40C}"/>
              </a:ext>
            </a:extLst>
          </p:cNvPr>
          <p:cNvSpPr txBox="1"/>
          <p:nvPr/>
        </p:nvSpPr>
        <p:spPr>
          <a:xfrm>
            <a:off x="2502790" y="1666177"/>
            <a:ext cx="720075" cy="246221"/>
          </a:xfrm>
          <a:prstGeom prst="rect">
            <a:avLst/>
          </a:prstGeom>
          <a:noFill/>
        </p:spPr>
        <p:txBody>
          <a:bodyPr wrap="square" rtlCol="0">
            <a:spAutoFit/>
          </a:bodyPr>
          <a:lstStyle/>
          <a:p>
            <a:r>
              <a:rPr lang="en-US" sz="1000" dirty="0"/>
              <a:t>Year</a:t>
            </a:r>
          </a:p>
        </p:txBody>
      </p:sp>
      <p:sp>
        <p:nvSpPr>
          <p:cNvPr id="17" name="TextBox 16">
            <a:extLst>
              <a:ext uri="{FF2B5EF4-FFF2-40B4-BE49-F238E27FC236}">
                <a16:creationId xmlns:a16="http://schemas.microsoft.com/office/drawing/2014/main" id="{72EB0CC7-D688-F552-F466-14951A3AF808}"/>
              </a:ext>
            </a:extLst>
          </p:cNvPr>
          <p:cNvSpPr txBox="1"/>
          <p:nvPr/>
        </p:nvSpPr>
        <p:spPr>
          <a:xfrm>
            <a:off x="5449345" y="1439595"/>
            <a:ext cx="1272129" cy="246221"/>
          </a:xfrm>
          <a:prstGeom prst="rect">
            <a:avLst/>
          </a:prstGeom>
          <a:noFill/>
        </p:spPr>
        <p:txBody>
          <a:bodyPr wrap="square" rtlCol="0">
            <a:spAutoFit/>
          </a:bodyPr>
          <a:lstStyle/>
          <a:p>
            <a:r>
              <a:rPr lang="en-US" sz="1000" dirty="0"/>
              <a:t>Artist image</a:t>
            </a:r>
          </a:p>
        </p:txBody>
      </p:sp>
      <p:sp>
        <p:nvSpPr>
          <p:cNvPr id="40" name="TextBox 39">
            <a:extLst>
              <a:ext uri="{FF2B5EF4-FFF2-40B4-BE49-F238E27FC236}">
                <a16:creationId xmlns:a16="http://schemas.microsoft.com/office/drawing/2014/main" id="{2C9C8A81-23C5-51F5-7EA7-C3E3712E51BD}"/>
              </a:ext>
            </a:extLst>
          </p:cNvPr>
          <p:cNvSpPr txBox="1"/>
          <p:nvPr/>
        </p:nvSpPr>
        <p:spPr>
          <a:xfrm>
            <a:off x="7625697" y="2015166"/>
            <a:ext cx="2135834" cy="769441"/>
          </a:xfrm>
          <a:prstGeom prst="rect">
            <a:avLst/>
          </a:prstGeom>
          <a:noFill/>
        </p:spPr>
        <p:txBody>
          <a:bodyPr wrap="square" rtlCol="0">
            <a:spAutoFit/>
          </a:bodyPr>
          <a:lstStyle/>
          <a:p>
            <a:r>
              <a:rPr lang="en-US" sz="1100" i="1" dirty="0">
                <a:solidFill>
                  <a:srgbClr val="0070C0"/>
                </a:solidFill>
              </a:rPr>
              <a:t>Display the song information in any way you’d like but take advantage of contrast, alignment, </a:t>
            </a:r>
            <a:r>
              <a:rPr lang="en-US" sz="1100" i="1" dirty="0" err="1">
                <a:solidFill>
                  <a:srgbClr val="0070C0"/>
                </a:solidFill>
              </a:rPr>
              <a:t>etc</a:t>
            </a:r>
            <a:endParaRPr lang="en-US" sz="1100" i="1" dirty="0">
              <a:solidFill>
                <a:srgbClr val="0070C0"/>
              </a:solidFill>
            </a:endParaRPr>
          </a:p>
        </p:txBody>
      </p:sp>
      <p:sp>
        <p:nvSpPr>
          <p:cNvPr id="41" name="TextBox 40">
            <a:extLst>
              <a:ext uri="{FF2B5EF4-FFF2-40B4-BE49-F238E27FC236}">
                <a16:creationId xmlns:a16="http://schemas.microsoft.com/office/drawing/2014/main" id="{C81001CB-E966-FAC5-7626-50DB30B50311}"/>
              </a:ext>
            </a:extLst>
          </p:cNvPr>
          <p:cNvSpPr txBox="1"/>
          <p:nvPr/>
        </p:nvSpPr>
        <p:spPr>
          <a:xfrm>
            <a:off x="7589927" y="3561348"/>
            <a:ext cx="1798705" cy="430887"/>
          </a:xfrm>
          <a:prstGeom prst="rect">
            <a:avLst/>
          </a:prstGeom>
          <a:noFill/>
        </p:spPr>
        <p:txBody>
          <a:bodyPr wrap="square" rtlCol="0">
            <a:spAutoFit/>
          </a:bodyPr>
          <a:lstStyle/>
          <a:p>
            <a:r>
              <a:rPr lang="en-US" sz="1100" i="1" dirty="0">
                <a:solidFill>
                  <a:srgbClr val="0070C0"/>
                </a:solidFill>
              </a:rPr>
              <a:t>Display these analytic values in a radar chart</a:t>
            </a:r>
          </a:p>
        </p:txBody>
      </p:sp>
      <p:sp>
        <p:nvSpPr>
          <p:cNvPr id="42" name="TextBox 41">
            <a:extLst>
              <a:ext uri="{FF2B5EF4-FFF2-40B4-BE49-F238E27FC236}">
                <a16:creationId xmlns:a16="http://schemas.microsoft.com/office/drawing/2014/main" id="{0362A988-98DD-2952-B081-BF39E6E7F26F}"/>
              </a:ext>
            </a:extLst>
          </p:cNvPr>
          <p:cNvSpPr txBox="1"/>
          <p:nvPr/>
        </p:nvSpPr>
        <p:spPr>
          <a:xfrm>
            <a:off x="2474797" y="3892959"/>
            <a:ext cx="2135834" cy="600164"/>
          </a:xfrm>
          <a:prstGeom prst="rect">
            <a:avLst/>
          </a:prstGeom>
          <a:noFill/>
        </p:spPr>
        <p:txBody>
          <a:bodyPr wrap="square" rtlCol="0">
            <a:spAutoFit/>
          </a:bodyPr>
          <a:lstStyle/>
          <a:p>
            <a:r>
              <a:rPr lang="en-US" sz="1100" i="1" dirty="0">
                <a:solidFill>
                  <a:srgbClr val="0070C0"/>
                </a:solidFill>
              </a:rPr>
              <a:t>When user adds a song to playlist, then use some type of toaster notification (see Lab9b).</a:t>
            </a:r>
          </a:p>
        </p:txBody>
      </p:sp>
      <p:sp>
        <p:nvSpPr>
          <p:cNvPr id="43" name="TextBox 42">
            <a:extLst>
              <a:ext uri="{FF2B5EF4-FFF2-40B4-BE49-F238E27FC236}">
                <a16:creationId xmlns:a16="http://schemas.microsoft.com/office/drawing/2014/main" id="{40D5664D-9101-43AF-E555-D84C8BBCD42B}"/>
              </a:ext>
            </a:extLst>
          </p:cNvPr>
          <p:cNvSpPr txBox="1"/>
          <p:nvPr/>
        </p:nvSpPr>
        <p:spPr>
          <a:xfrm>
            <a:off x="7589927" y="5373828"/>
            <a:ext cx="2804808" cy="1277273"/>
          </a:xfrm>
          <a:prstGeom prst="rect">
            <a:avLst/>
          </a:prstGeom>
          <a:noFill/>
        </p:spPr>
        <p:txBody>
          <a:bodyPr wrap="square" rtlCol="0">
            <a:spAutoFit/>
          </a:bodyPr>
          <a:lstStyle/>
          <a:p>
            <a:r>
              <a:rPr lang="en-US" sz="1100" i="1" dirty="0">
                <a:solidFill>
                  <a:srgbClr val="0070C0"/>
                </a:solidFill>
              </a:rPr>
              <a:t>What makes a related song? </a:t>
            </a:r>
          </a:p>
          <a:p>
            <a:r>
              <a:rPr lang="en-US" sz="1100" i="1" dirty="0">
                <a:solidFill>
                  <a:srgbClr val="0070C0"/>
                </a:solidFill>
              </a:rPr>
              <a:t>For this assignment, display some number of songs whose analytic values have a similar sum to the top 3 analytic categories as this song. In this example (look at the chart), you would look for songs with similar valence, danceability, and energy values.</a:t>
            </a:r>
          </a:p>
        </p:txBody>
      </p:sp>
      <p:pic>
        <p:nvPicPr>
          <p:cNvPr id="2" name="Picture 1">
            <a:extLst>
              <a:ext uri="{FF2B5EF4-FFF2-40B4-BE49-F238E27FC236}">
                <a16:creationId xmlns:a16="http://schemas.microsoft.com/office/drawing/2014/main" id="{B90F68DB-5FA6-5D83-7748-653B88357329}"/>
              </a:ext>
            </a:extLst>
          </p:cNvPr>
          <p:cNvPicPr>
            <a:picLocks noChangeAspect="1"/>
          </p:cNvPicPr>
          <p:nvPr/>
        </p:nvPicPr>
        <p:blipFill>
          <a:blip r:embed="rId2"/>
          <a:stretch>
            <a:fillRect/>
          </a:stretch>
        </p:blipFill>
        <p:spPr>
          <a:xfrm>
            <a:off x="4558912" y="2525961"/>
            <a:ext cx="2557069" cy="2586716"/>
          </a:xfrm>
          <a:prstGeom prst="rect">
            <a:avLst/>
          </a:prstGeom>
        </p:spPr>
      </p:pic>
      <p:sp>
        <p:nvSpPr>
          <p:cNvPr id="13" name="Rectangle 12">
            <a:extLst>
              <a:ext uri="{FF2B5EF4-FFF2-40B4-BE49-F238E27FC236}">
                <a16:creationId xmlns:a16="http://schemas.microsoft.com/office/drawing/2014/main" id="{4CCD9D13-9D71-0C82-96FD-A974B4F09003}"/>
              </a:ext>
            </a:extLst>
          </p:cNvPr>
          <p:cNvSpPr/>
          <p:nvPr/>
        </p:nvSpPr>
        <p:spPr>
          <a:xfrm rot="10800000" flipH="1" flipV="1">
            <a:off x="2592948" y="5638222"/>
            <a:ext cx="1002705" cy="6347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artist</a:t>
            </a:r>
          </a:p>
        </p:txBody>
      </p:sp>
      <p:sp>
        <p:nvSpPr>
          <p:cNvPr id="38" name="Rectangle 37">
            <a:extLst>
              <a:ext uri="{FF2B5EF4-FFF2-40B4-BE49-F238E27FC236}">
                <a16:creationId xmlns:a16="http://schemas.microsoft.com/office/drawing/2014/main" id="{C8E4B444-31A2-5EAF-9AB1-C35373057FD4}"/>
              </a:ext>
            </a:extLst>
          </p:cNvPr>
          <p:cNvSpPr/>
          <p:nvPr/>
        </p:nvSpPr>
        <p:spPr>
          <a:xfrm rot="10800000" flipH="1" flipV="1">
            <a:off x="3768116" y="5638222"/>
            <a:ext cx="1002705" cy="6347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artist</a:t>
            </a:r>
          </a:p>
        </p:txBody>
      </p:sp>
      <p:sp>
        <p:nvSpPr>
          <p:cNvPr id="39" name="Rectangle 38">
            <a:extLst>
              <a:ext uri="{FF2B5EF4-FFF2-40B4-BE49-F238E27FC236}">
                <a16:creationId xmlns:a16="http://schemas.microsoft.com/office/drawing/2014/main" id="{57C27DCB-612A-5686-A429-FD7BBF09A437}"/>
              </a:ext>
            </a:extLst>
          </p:cNvPr>
          <p:cNvSpPr/>
          <p:nvPr/>
        </p:nvSpPr>
        <p:spPr>
          <a:xfrm rot="10800000" flipH="1" flipV="1">
            <a:off x="4956324" y="5647136"/>
            <a:ext cx="1002705" cy="6347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artist</a:t>
            </a:r>
          </a:p>
        </p:txBody>
      </p:sp>
      <p:sp>
        <p:nvSpPr>
          <p:cNvPr id="44" name="TextBox 43">
            <a:extLst>
              <a:ext uri="{FF2B5EF4-FFF2-40B4-BE49-F238E27FC236}">
                <a16:creationId xmlns:a16="http://schemas.microsoft.com/office/drawing/2014/main" id="{C7AD1CE4-2555-91CA-3516-814B6074B72A}"/>
              </a:ext>
            </a:extLst>
          </p:cNvPr>
          <p:cNvSpPr txBox="1"/>
          <p:nvPr/>
        </p:nvSpPr>
        <p:spPr>
          <a:xfrm>
            <a:off x="2474797" y="8679178"/>
            <a:ext cx="813167" cy="400110"/>
          </a:xfrm>
          <a:prstGeom prst="rect">
            <a:avLst/>
          </a:prstGeom>
          <a:noFill/>
        </p:spPr>
        <p:txBody>
          <a:bodyPr wrap="square" rtlCol="0">
            <a:spAutoFit/>
          </a:bodyPr>
          <a:lstStyle/>
          <a:p>
            <a:r>
              <a:rPr lang="en-US" sz="1000" dirty="0"/>
              <a:t>Title</a:t>
            </a:r>
          </a:p>
          <a:p>
            <a:r>
              <a:rPr lang="en-US" sz="1000" dirty="0"/>
              <a:t>$price</a:t>
            </a:r>
          </a:p>
        </p:txBody>
      </p:sp>
      <p:sp>
        <p:nvSpPr>
          <p:cNvPr id="45" name="TextBox 44">
            <a:extLst>
              <a:ext uri="{FF2B5EF4-FFF2-40B4-BE49-F238E27FC236}">
                <a16:creationId xmlns:a16="http://schemas.microsoft.com/office/drawing/2014/main" id="{A0BD989A-2CCB-292C-05CD-BEFB8F9CD5B7}"/>
              </a:ext>
            </a:extLst>
          </p:cNvPr>
          <p:cNvSpPr txBox="1"/>
          <p:nvPr/>
        </p:nvSpPr>
        <p:spPr>
          <a:xfrm>
            <a:off x="3708020" y="8679178"/>
            <a:ext cx="813167" cy="400110"/>
          </a:xfrm>
          <a:prstGeom prst="rect">
            <a:avLst/>
          </a:prstGeom>
          <a:noFill/>
        </p:spPr>
        <p:txBody>
          <a:bodyPr wrap="square" rtlCol="0">
            <a:spAutoFit/>
          </a:bodyPr>
          <a:lstStyle/>
          <a:p>
            <a:r>
              <a:rPr lang="en-US" sz="1000" dirty="0"/>
              <a:t>Title</a:t>
            </a:r>
          </a:p>
          <a:p>
            <a:r>
              <a:rPr lang="en-US" sz="1000" dirty="0"/>
              <a:t>$price</a:t>
            </a:r>
          </a:p>
        </p:txBody>
      </p:sp>
      <p:sp>
        <p:nvSpPr>
          <p:cNvPr id="46" name="TextBox 45">
            <a:extLst>
              <a:ext uri="{FF2B5EF4-FFF2-40B4-BE49-F238E27FC236}">
                <a16:creationId xmlns:a16="http://schemas.microsoft.com/office/drawing/2014/main" id="{36070B00-7980-B58C-68CF-64A304B9EDD1}"/>
              </a:ext>
            </a:extLst>
          </p:cNvPr>
          <p:cNvSpPr txBox="1"/>
          <p:nvPr/>
        </p:nvSpPr>
        <p:spPr>
          <a:xfrm>
            <a:off x="4941243" y="8707299"/>
            <a:ext cx="813167" cy="400110"/>
          </a:xfrm>
          <a:prstGeom prst="rect">
            <a:avLst/>
          </a:prstGeom>
          <a:noFill/>
        </p:spPr>
        <p:txBody>
          <a:bodyPr wrap="square" rtlCol="0">
            <a:spAutoFit/>
          </a:bodyPr>
          <a:lstStyle/>
          <a:p>
            <a:r>
              <a:rPr lang="en-US" sz="1000" dirty="0"/>
              <a:t>Title</a:t>
            </a:r>
          </a:p>
          <a:p>
            <a:r>
              <a:rPr lang="en-US" sz="1000" dirty="0"/>
              <a:t>$price</a:t>
            </a:r>
          </a:p>
        </p:txBody>
      </p:sp>
      <p:sp>
        <p:nvSpPr>
          <p:cNvPr id="47" name="Rectangle 46">
            <a:extLst>
              <a:ext uri="{FF2B5EF4-FFF2-40B4-BE49-F238E27FC236}">
                <a16:creationId xmlns:a16="http://schemas.microsoft.com/office/drawing/2014/main" id="{9A57BB39-CF57-6833-9864-4C928EAD3C37}"/>
              </a:ext>
            </a:extLst>
          </p:cNvPr>
          <p:cNvSpPr/>
          <p:nvPr/>
        </p:nvSpPr>
        <p:spPr>
          <a:xfrm>
            <a:off x="5723082" y="8777326"/>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48" name="Rectangle 47">
            <a:extLst>
              <a:ext uri="{FF2B5EF4-FFF2-40B4-BE49-F238E27FC236}">
                <a16:creationId xmlns:a16="http://schemas.microsoft.com/office/drawing/2014/main" id="{EC7055D3-FB5C-29D5-471A-2485905901CD}"/>
              </a:ext>
            </a:extLst>
          </p:cNvPr>
          <p:cNvSpPr/>
          <p:nvPr/>
        </p:nvSpPr>
        <p:spPr>
          <a:xfrm>
            <a:off x="4534777" y="8762503"/>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49" name="Rectangle 48">
            <a:extLst>
              <a:ext uri="{FF2B5EF4-FFF2-40B4-BE49-F238E27FC236}">
                <a16:creationId xmlns:a16="http://schemas.microsoft.com/office/drawing/2014/main" id="{B052E702-64AB-AE52-F769-AB2DB6901A56}"/>
              </a:ext>
            </a:extLst>
          </p:cNvPr>
          <p:cNvSpPr/>
          <p:nvPr/>
        </p:nvSpPr>
        <p:spPr>
          <a:xfrm>
            <a:off x="3346715" y="8745108"/>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50" name="Rectangle 49">
            <a:extLst>
              <a:ext uri="{FF2B5EF4-FFF2-40B4-BE49-F238E27FC236}">
                <a16:creationId xmlns:a16="http://schemas.microsoft.com/office/drawing/2014/main" id="{5BC5FDC1-97FD-241B-115F-F2E76AE9CC42}"/>
              </a:ext>
            </a:extLst>
          </p:cNvPr>
          <p:cNvSpPr/>
          <p:nvPr/>
        </p:nvSpPr>
        <p:spPr>
          <a:xfrm rot="10800000" flipH="1" flipV="1">
            <a:off x="6147645" y="5638222"/>
            <a:ext cx="1002705" cy="6347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artist</a:t>
            </a:r>
          </a:p>
        </p:txBody>
      </p:sp>
      <p:sp>
        <p:nvSpPr>
          <p:cNvPr id="51" name="TextBox 50">
            <a:extLst>
              <a:ext uri="{FF2B5EF4-FFF2-40B4-BE49-F238E27FC236}">
                <a16:creationId xmlns:a16="http://schemas.microsoft.com/office/drawing/2014/main" id="{7AFD62BB-053D-F130-E7DC-9BEE5906D1BD}"/>
              </a:ext>
            </a:extLst>
          </p:cNvPr>
          <p:cNvSpPr txBox="1"/>
          <p:nvPr/>
        </p:nvSpPr>
        <p:spPr>
          <a:xfrm>
            <a:off x="6132564" y="8698385"/>
            <a:ext cx="813167" cy="400110"/>
          </a:xfrm>
          <a:prstGeom prst="rect">
            <a:avLst/>
          </a:prstGeom>
          <a:noFill/>
        </p:spPr>
        <p:txBody>
          <a:bodyPr wrap="square" rtlCol="0">
            <a:spAutoFit/>
          </a:bodyPr>
          <a:lstStyle/>
          <a:p>
            <a:r>
              <a:rPr lang="en-US" sz="1000" dirty="0"/>
              <a:t>Title</a:t>
            </a:r>
          </a:p>
          <a:p>
            <a:r>
              <a:rPr lang="en-US" sz="1000" dirty="0"/>
              <a:t>$price</a:t>
            </a:r>
          </a:p>
        </p:txBody>
      </p:sp>
      <p:sp>
        <p:nvSpPr>
          <p:cNvPr id="52" name="Rectangle 51">
            <a:extLst>
              <a:ext uri="{FF2B5EF4-FFF2-40B4-BE49-F238E27FC236}">
                <a16:creationId xmlns:a16="http://schemas.microsoft.com/office/drawing/2014/main" id="{A15FC0ED-1EDC-3964-17F6-7B6C7177F9FD}"/>
              </a:ext>
            </a:extLst>
          </p:cNvPr>
          <p:cNvSpPr/>
          <p:nvPr/>
        </p:nvSpPr>
        <p:spPr>
          <a:xfrm>
            <a:off x="6914403" y="8768412"/>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53" name="TextBox 52">
            <a:extLst>
              <a:ext uri="{FF2B5EF4-FFF2-40B4-BE49-F238E27FC236}">
                <a16:creationId xmlns:a16="http://schemas.microsoft.com/office/drawing/2014/main" id="{7946CE1A-73F8-BCF7-1474-7624AB0F5398}"/>
              </a:ext>
            </a:extLst>
          </p:cNvPr>
          <p:cNvSpPr txBox="1"/>
          <p:nvPr/>
        </p:nvSpPr>
        <p:spPr>
          <a:xfrm>
            <a:off x="4368574" y="5373828"/>
            <a:ext cx="1929501" cy="246221"/>
          </a:xfrm>
          <a:prstGeom prst="rect">
            <a:avLst/>
          </a:prstGeom>
          <a:noFill/>
        </p:spPr>
        <p:txBody>
          <a:bodyPr wrap="square" rtlCol="0">
            <a:spAutoFit/>
          </a:bodyPr>
          <a:lstStyle/>
          <a:p>
            <a:r>
              <a:rPr lang="en-US" sz="1000" b="1" dirty="0"/>
              <a:t>Related Songs</a:t>
            </a:r>
          </a:p>
        </p:txBody>
      </p:sp>
      <p:sp>
        <p:nvSpPr>
          <p:cNvPr id="54" name="TextBox 53">
            <a:extLst>
              <a:ext uri="{FF2B5EF4-FFF2-40B4-BE49-F238E27FC236}">
                <a16:creationId xmlns:a16="http://schemas.microsoft.com/office/drawing/2014/main" id="{8F5CCFBE-5699-B994-FD3E-392244B360B3}"/>
              </a:ext>
            </a:extLst>
          </p:cNvPr>
          <p:cNvSpPr txBox="1"/>
          <p:nvPr/>
        </p:nvSpPr>
        <p:spPr>
          <a:xfrm>
            <a:off x="2531781" y="3020150"/>
            <a:ext cx="1106873" cy="400110"/>
          </a:xfrm>
          <a:prstGeom prst="rect">
            <a:avLst/>
          </a:prstGeom>
          <a:noFill/>
        </p:spPr>
        <p:txBody>
          <a:bodyPr wrap="square" rtlCol="0">
            <a:spAutoFit/>
          </a:bodyPr>
          <a:lstStyle/>
          <a:p>
            <a:r>
              <a:rPr lang="en-US" sz="1000" dirty="0"/>
              <a:t>Bpm, popularity, loudness</a:t>
            </a:r>
          </a:p>
        </p:txBody>
      </p:sp>
    </p:spTree>
    <p:extLst>
      <p:ext uri="{BB962C8B-B14F-4D97-AF65-F5344CB8AC3E}">
        <p14:creationId xmlns:p14="http://schemas.microsoft.com/office/powerpoint/2010/main" val="3161852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CAADD24-4F01-0251-A045-044EEC678516}"/>
              </a:ext>
            </a:extLst>
          </p:cNvPr>
          <p:cNvSpPr/>
          <p:nvPr/>
        </p:nvSpPr>
        <p:spPr>
          <a:xfrm>
            <a:off x="2412602" y="1052704"/>
            <a:ext cx="4434765" cy="539937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 name="Rectangle 2">
            <a:extLst>
              <a:ext uri="{FF2B5EF4-FFF2-40B4-BE49-F238E27FC236}">
                <a16:creationId xmlns:a16="http://schemas.microsoft.com/office/drawing/2014/main" id="{505E6EF2-2B1D-6A60-64B2-0BFC1DAC15F2}"/>
              </a:ext>
            </a:extLst>
          </p:cNvPr>
          <p:cNvSpPr/>
          <p:nvPr/>
        </p:nvSpPr>
        <p:spPr>
          <a:xfrm>
            <a:off x="2690038" y="3223554"/>
            <a:ext cx="3987210" cy="315504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2B825928-50B0-3662-56F3-ECDE07F1A79E}"/>
              </a:ext>
            </a:extLst>
          </p:cNvPr>
          <p:cNvSpPr txBox="1"/>
          <p:nvPr/>
        </p:nvSpPr>
        <p:spPr>
          <a:xfrm>
            <a:off x="3915608" y="1235934"/>
            <a:ext cx="1337443" cy="276999"/>
          </a:xfrm>
          <a:prstGeom prst="rect">
            <a:avLst/>
          </a:prstGeom>
          <a:noFill/>
        </p:spPr>
        <p:txBody>
          <a:bodyPr wrap="square" rtlCol="0">
            <a:spAutoFit/>
          </a:bodyPr>
          <a:lstStyle/>
          <a:p>
            <a:r>
              <a:rPr lang="en-US" sz="1200" b="1" dirty="0"/>
              <a:t>Artist / Genre</a:t>
            </a:r>
          </a:p>
        </p:txBody>
      </p:sp>
      <p:sp>
        <p:nvSpPr>
          <p:cNvPr id="5" name="TextBox 4">
            <a:extLst>
              <a:ext uri="{FF2B5EF4-FFF2-40B4-BE49-F238E27FC236}">
                <a16:creationId xmlns:a16="http://schemas.microsoft.com/office/drawing/2014/main" id="{3992E8DD-6A5E-D50A-41C3-6B1E106A5FC4}"/>
              </a:ext>
            </a:extLst>
          </p:cNvPr>
          <p:cNvSpPr txBox="1"/>
          <p:nvPr/>
        </p:nvSpPr>
        <p:spPr>
          <a:xfrm>
            <a:off x="2954124" y="3231697"/>
            <a:ext cx="1517763" cy="246221"/>
          </a:xfrm>
          <a:prstGeom prst="rect">
            <a:avLst/>
          </a:prstGeom>
          <a:noFill/>
        </p:spPr>
        <p:txBody>
          <a:bodyPr wrap="square" rtlCol="0">
            <a:spAutoFit/>
          </a:bodyPr>
          <a:lstStyle/>
          <a:p>
            <a:r>
              <a:rPr lang="en-US" sz="1000" b="1" dirty="0"/>
              <a:t>Title</a:t>
            </a:r>
          </a:p>
        </p:txBody>
      </p:sp>
      <p:sp>
        <p:nvSpPr>
          <p:cNvPr id="6" name="Rectangle 5">
            <a:extLst>
              <a:ext uri="{FF2B5EF4-FFF2-40B4-BE49-F238E27FC236}">
                <a16:creationId xmlns:a16="http://schemas.microsoft.com/office/drawing/2014/main" id="{96B4D5CF-31CE-1CCE-3F08-359935598137}"/>
              </a:ext>
            </a:extLst>
          </p:cNvPr>
          <p:cNvSpPr/>
          <p:nvPr/>
        </p:nvSpPr>
        <p:spPr>
          <a:xfrm>
            <a:off x="6221722" y="3543307"/>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7" name="TextBox 6">
            <a:extLst>
              <a:ext uri="{FF2B5EF4-FFF2-40B4-BE49-F238E27FC236}">
                <a16:creationId xmlns:a16="http://schemas.microsoft.com/office/drawing/2014/main" id="{97A1BC2B-0E9D-2738-101E-4B022E9CE8CE}"/>
              </a:ext>
            </a:extLst>
          </p:cNvPr>
          <p:cNvSpPr txBox="1"/>
          <p:nvPr/>
        </p:nvSpPr>
        <p:spPr>
          <a:xfrm>
            <a:off x="4365203" y="3223554"/>
            <a:ext cx="1141396" cy="246221"/>
          </a:xfrm>
          <a:prstGeom prst="rect">
            <a:avLst/>
          </a:prstGeom>
          <a:noFill/>
        </p:spPr>
        <p:txBody>
          <a:bodyPr wrap="square" rtlCol="0">
            <a:spAutoFit/>
          </a:bodyPr>
          <a:lstStyle/>
          <a:p>
            <a:r>
              <a:rPr lang="en-US" sz="1000" b="1" dirty="0"/>
              <a:t>Artist</a:t>
            </a:r>
          </a:p>
        </p:txBody>
      </p:sp>
      <p:sp>
        <p:nvSpPr>
          <p:cNvPr id="8" name="TextBox 7">
            <a:extLst>
              <a:ext uri="{FF2B5EF4-FFF2-40B4-BE49-F238E27FC236}">
                <a16:creationId xmlns:a16="http://schemas.microsoft.com/office/drawing/2014/main" id="{7A40F036-B317-D75C-1706-4193611ED445}"/>
              </a:ext>
            </a:extLst>
          </p:cNvPr>
          <p:cNvSpPr txBox="1"/>
          <p:nvPr/>
        </p:nvSpPr>
        <p:spPr>
          <a:xfrm>
            <a:off x="5395322" y="3217081"/>
            <a:ext cx="1141396" cy="246221"/>
          </a:xfrm>
          <a:prstGeom prst="rect">
            <a:avLst/>
          </a:prstGeom>
          <a:noFill/>
        </p:spPr>
        <p:txBody>
          <a:bodyPr wrap="square" rtlCol="0">
            <a:spAutoFit/>
          </a:bodyPr>
          <a:lstStyle/>
          <a:p>
            <a:r>
              <a:rPr lang="en-US" sz="1000" b="1" dirty="0"/>
              <a:t>Year</a:t>
            </a:r>
          </a:p>
        </p:txBody>
      </p:sp>
      <p:sp>
        <p:nvSpPr>
          <p:cNvPr id="9" name="TextBox 8">
            <a:extLst>
              <a:ext uri="{FF2B5EF4-FFF2-40B4-BE49-F238E27FC236}">
                <a16:creationId xmlns:a16="http://schemas.microsoft.com/office/drawing/2014/main" id="{F3C2A79C-768D-3A8E-92A4-07ACC32C373A}"/>
              </a:ext>
            </a:extLst>
          </p:cNvPr>
          <p:cNvSpPr txBox="1"/>
          <p:nvPr/>
        </p:nvSpPr>
        <p:spPr>
          <a:xfrm>
            <a:off x="2986326" y="3521876"/>
            <a:ext cx="1517763" cy="246221"/>
          </a:xfrm>
          <a:prstGeom prst="rect">
            <a:avLst/>
          </a:prstGeom>
          <a:noFill/>
        </p:spPr>
        <p:txBody>
          <a:bodyPr wrap="square" rtlCol="0">
            <a:spAutoFit/>
          </a:bodyPr>
          <a:lstStyle/>
          <a:p>
            <a:r>
              <a:rPr lang="en-US" sz="1000" dirty="0"/>
              <a:t>Love is here</a:t>
            </a:r>
          </a:p>
        </p:txBody>
      </p:sp>
      <p:sp>
        <p:nvSpPr>
          <p:cNvPr id="10" name="TextBox 9">
            <a:extLst>
              <a:ext uri="{FF2B5EF4-FFF2-40B4-BE49-F238E27FC236}">
                <a16:creationId xmlns:a16="http://schemas.microsoft.com/office/drawing/2014/main" id="{7ACA0DEE-51EE-5E34-DD02-7E0D249762D8}"/>
              </a:ext>
            </a:extLst>
          </p:cNvPr>
          <p:cNvSpPr txBox="1"/>
          <p:nvPr/>
        </p:nvSpPr>
        <p:spPr>
          <a:xfrm>
            <a:off x="4397405" y="3513733"/>
            <a:ext cx="1141396" cy="246221"/>
          </a:xfrm>
          <a:prstGeom prst="rect">
            <a:avLst/>
          </a:prstGeom>
          <a:noFill/>
        </p:spPr>
        <p:txBody>
          <a:bodyPr wrap="square" rtlCol="0">
            <a:spAutoFit/>
          </a:bodyPr>
          <a:lstStyle/>
          <a:p>
            <a:r>
              <a:rPr lang="en-US" sz="1000" dirty="0"/>
              <a:t>Foo</a:t>
            </a:r>
          </a:p>
        </p:txBody>
      </p:sp>
      <p:sp>
        <p:nvSpPr>
          <p:cNvPr id="11" name="TextBox 10">
            <a:extLst>
              <a:ext uri="{FF2B5EF4-FFF2-40B4-BE49-F238E27FC236}">
                <a16:creationId xmlns:a16="http://schemas.microsoft.com/office/drawing/2014/main" id="{35B83DF3-4264-8305-258A-4497B061E34B}"/>
              </a:ext>
            </a:extLst>
          </p:cNvPr>
          <p:cNvSpPr txBox="1"/>
          <p:nvPr/>
        </p:nvSpPr>
        <p:spPr>
          <a:xfrm>
            <a:off x="5427524" y="3507260"/>
            <a:ext cx="551430" cy="246221"/>
          </a:xfrm>
          <a:prstGeom prst="rect">
            <a:avLst/>
          </a:prstGeom>
          <a:noFill/>
        </p:spPr>
        <p:txBody>
          <a:bodyPr wrap="square" rtlCol="0">
            <a:spAutoFit/>
          </a:bodyPr>
          <a:lstStyle/>
          <a:p>
            <a:r>
              <a:rPr lang="en-US" sz="1000" dirty="0"/>
              <a:t>2018</a:t>
            </a:r>
          </a:p>
        </p:txBody>
      </p:sp>
      <p:sp>
        <p:nvSpPr>
          <p:cNvPr id="12" name="Rectangle 11">
            <a:extLst>
              <a:ext uri="{FF2B5EF4-FFF2-40B4-BE49-F238E27FC236}">
                <a16:creationId xmlns:a16="http://schemas.microsoft.com/office/drawing/2014/main" id="{3321D193-5836-8102-995E-983FD1C37911}"/>
              </a:ext>
            </a:extLst>
          </p:cNvPr>
          <p:cNvSpPr/>
          <p:nvPr/>
        </p:nvSpPr>
        <p:spPr>
          <a:xfrm>
            <a:off x="6221722" y="3884149"/>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13" name="TextBox 12">
            <a:extLst>
              <a:ext uri="{FF2B5EF4-FFF2-40B4-BE49-F238E27FC236}">
                <a16:creationId xmlns:a16="http://schemas.microsoft.com/office/drawing/2014/main" id="{6876D51B-9C62-E562-8F58-5C8FA8B72652}"/>
              </a:ext>
            </a:extLst>
          </p:cNvPr>
          <p:cNvSpPr txBox="1"/>
          <p:nvPr/>
        </p:nvSpPr>
        <p:spPr>
          <a:xfrm>
            <a:off x="2986326" y="3862718"/>
            <a:ext cx="1517763" cy="246221"/>
          </a:xfrm>
          <a:prstGeom prst="rect">
            <a:avLst/>
          </a:prstGeom>
          <a:noFill/>
        </p:spPr>
        <p:txBody>
          <a:bodyPr wrap="square" rtlCol="0">
            <a:spAutoFit/>
          </a:bodyPr>
          <a:lstStyle/>
          <a:p>
            <a:r>
              <a:rPr lang="en-US" sz="1000" dirty="0"/>
              <a:t>Bar is the way</a:t>
            </a:r>
          </a:p>
        </p:txBody>
      </p:sp>
      <p:sp>
        <p:nvSpPr>
          <p:cNvPr id="14" name="TextBox 13">
            <a:extLst>
              <a:ext uri="{FF2B5EF4-FFF2-40B4-BE49-F238E27FC236}">
                <a16:creationId xmlns:a16="http://schemas.microsoft.com/office/drawing/2014/main" id="{6FEAF9BB-645E-D8EF-FB5B-03B39CD8F881}"/>
              </a:ext>
            </a:extLst>
          </p:cNvPr>
          <p:cNvSpPr txBox="1"/>
          <p:nvPr/>
        </p:nvSpPr>
        <p:spPr>
          <a:xfrm>
            <a:off x="4397405" y="3854575"/>
            <a:ext cx="1141396" cy="246221"/>
          </a:xfrm>
          <a:prstGeom prst="rect">
            <a:avLst/>
          </a:prstGeom>
          <a:noFill/>
        </p:spPr>
        <p:txBody>
          <a:bodyPr wrap="square" rtlCol="0">
            <a:spAutoFit/>
          </a:bodyPr>
          <a:lstStyle/>
          <a:p>
            <a:r>
              <a:rPr lang="en-US" sz="1000" dirty="0"/>
              <a:t>Foo</a:t>
            </a:r>
          </a:p>
        </p:txBody>
      </p:sp>
      <p:sp>
        <p:nvSpPr>
          <p:cNvPr id="15" name="TextBox 14">
            <a:extLst>
              <a:ext uri="{FF2B5EF4-FFF2-40B4-BE49-F238E27FC236}">
                <a16:creationId xmlns:a16="http://schemas.microsoft.com/office/drawing/2014/main" id="{1F697FAD-AB33-873A-F432-4988DE3FE740}"/>
              </a:ext>
            </a:extLst>
          </p:cNvPr>
          <p:cNvSpPr txBox="1"/>
          <p:nvPr/>
        </p:nvSpPr>
        <p:spPr>
          <a:xfrm>
            <a:off x="5427524" y="3848102"/>
            <a:ext cx="551430" cy="246221"/>
          </a:xfrm>
          <a:prstGeom prst="rect">
            <a:avLst/>
          </a:prstGeom>
          <a:noFill/>
        </p:spPr>
        <p:txBody>
          <a:bodyPr wrap="square" rtlCol="0">
            <a:spAutoFit/>
          </a:bodyPr>
          <a:lstStyle/>
          <a:p>
            <a:r>
              <a:rPr lang="en-US" sz="1000" dirty="0"/>
              <a:t>2019</a:t>
            </a:r>
          </a:p>
        </p:txBody>
      </p:sp>
      <p:sp>
        <p:nvSpPr>
          <p:cNvPr id="16" name="TextBox 15">
            <a:extLst>
              <a:ext uri="{FF2B5EF4-FFF2-40B4-BE49-F238E27FC236}">
                <a16:creationId xmlns:a16="http://schemas.microsoft.com/office/drawing/2014/main" id="{41654FD4-0CDA-E88C-0FDB-E6DA64A7674D}"/>
              </a:ext>
            </a:extLst>
          </p:cNvPr>
          <p:cNvSpPr txBox="1"/>
          <p:nvPr/>
        </p:nvSpPr>
        <p:spPr>
          <a:xfrm>
            <a:off x="4883742" y="2116689"/>
            <a:ext cx="1505389" cy="400110"/>
          </a:xfrm>
          <a:prstGeom prst="rect">
            <a:avLst/>
          </a:prstGeom>
          <a:noFill/>
        </p:spPr>
        <p:txBody>
          <a:bodyPr wrap="square" rtlCol="0">
            <a:spAutoFit/>
          </a:bodyPr>
          <a:lstStyle/>
          <a:p>
            <a:r>
              <a:rPr lang="en-US" sz="1000" dirty="0"/>
              <a:t>Name, type, description, </a:t>
            </a:r>
            <a:r>
              <a:rPr lang="en-US" sz="1000" dirty="0" err="1"/>
              <a:t>url</a:t>
            </a:r>
            <a:r>
              <a:rPr lang="en-US" sz="1000" dirty="0"/>
              <a:t> (as working link)</a:t>
            </a:r>
          </a:p>
        </p:txBody>
      </p:sp>
      <p:sp>
        <p:nvSpPr>
          <p:cNvPr id="36" name="TextBox 35">
            <a:extLst>
              <a:ext uri="{FF2B5EF4-FFF2-40B4-BE49-F238E27FC236}">
                <a16:creationId xmlns:a16="http://schemas.microsoft.com/office/drawing/2014/main" id="{2E955DD5-9222-28F1-1352-9E59FDCE31D2}"/>
              </a:ext>
            </a:extLst>
          </p:cNvPr>
          <p:cNvSpPr txBox="1"/>
          <p:nvPr/>
        </p:nvSpPr>
        <p:spPr>
          <a:xfrm>
            <a:off x="6847367" y="1108350"/>
            <a:ext cx="2612065" cy="430887"/>
          </a:xfrm>
          <a:prstGeom prst="rect">
            <a:avLst/>
          </a:prstGeom>
          <a:noFill/>
        </p:spPr>
        <p:txBody>
          <a:bodyPr wrap="square" rtlCol="0">
            <a:spAutoFit/>
          </a:bodyPr>
          <a:lstStyle/>
          <a:p>
            <a:r>
              <a:rPr lang="en-US" sz="1100" i="1" dirty="0">
                <a:solidFill>
                  <a:srgbClr val="0070C0"/>
                </a:solidFill>
              </a:rPr>
              <a:t>You will have a similar layout for both the Artist View and the Genre View</a:t>
            </a:r>
          </a:p>
        </p:txBody>
      </p:sp>
      <p:sp>
        <p:nvSpPr>
          <p:cNvPr id="17" name="Rectangle 16">
            <a:extLst>
              <a:ext uri="{FF2B5EF4-FFF2-40B4-BE49-F238E27FC236}">
                <a16:creationId xmlns:a16="http://schemas.microsoft.com/office/drawing/2014/main" id="{036592B7-1161-CA42-E908-6B5DB252B62E}"/>
              </a:ext>
            </a:extLst>
          </p:cNvPr>
          <p:cNvSpPr/>
          <p:nvPr/>
        </p:nvSpPr>
        <p:spPr>
          <a:xfrm>
            <a:off x="2681238" y="1776917"/>
            <a:ext cx="2063533" cy="123354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3470D0F9-5C1A-FA7E-389E-878BFECCEEDA}"/>
              </a:ext>
            </a:extLst>
          </p:cNvPr>
          <p:cNvSpPr txBox="1"/>
          <p:nvPr/>
        </p:nvSpPr>
        <p:spPr>
          <a:xfrm>
            <a:off x="3312201" y="2270579"/>
            <a:ext cx="1272129" cy="246221"/>
          </a:xfrm>
          <a:prstGeom prst="rect">
            <a:avLst/>
          </a:prstGeom>
          <a:noFill/>
        </p:spPr>
        <p:txBody>
          <a:bodyPr wrap="square" rtlCol="0">
            <a:spAutoFit/>
          </a:bodyPr>
          <a:lstStyle/>
          <a:p>
            <a:r>
              <a:rPr lang="en-US" sz="1000" dirty="0"/>
              <a:t>Artist image</a:t>
            </a:r>
          </a:p>
        </p:txBody>
      </p:sp>
      <p:sp>
        <p:nvSpPr>
          <p:cNvPr id="20" name="TextBox 19">
            <a:extLst>
              <a:ext uri="{FF2B5EF4-FFF2-40B4-BE49-F238E27FC236}">
                <a16:creationId xmlns:a16="http://schemas.microsoft.com/office/drawing/2014/main" id="{5FE833C3-D24E-15D3-03E3-390B9B80ED04}"/>
              </a:ext>
            </a:extLst>
          </p:cNvPr>
          <p:cNvSpPr txBox="1"/>
          <p:nvPr/>
        </p:nvSpPr>
        <p:spPr>
          <a:xfrm>
            <a:off x="6921796" y="2316744"/>
            <a:ext cx="1786268" cy="261610"/>
          </a:xfrm>
          <a:prstGeom prst="rect">
            <a:avLst/>
          </a:prstGeom>
          <a:noFill/>
        </p:spPr>
        <p:txBody>
          <a:bodyPr wrap="square" rtlCol="0">
            <a:spAutoFit/>
          </a:bodyPr>
          <a:lstStyle/>
          <a:p>
            <a:r>
              <a:rPr lang="en-US" sz="1100" i="1" dirty="0">
                <a:solidFill>
                  <a:srgbClr val="0070C0"/>
                </a:solidFill>
              </a:rPr>
              <a:t>Genre View won’t have this</a:t>
            </a:r>
          </a:p>
        </p:txBody>
      </p:sp>
      <p:sp>
        <p:nvSpPr>
          <p:cNvPr id="21" name="TextBox 20">
            <a:extLst>
              <a:ext uri="{FF2B5EF4-FFF2-40B4-BE49-F238E27FC236}">
                <a16:creationId xmlns:a16="http://schemas.microsoft.com/office/drawing/2014/main" id="{7D205C6C-6A63-5448-B669-20B5F3252091}"/>
              </a:ext>
            </a:extLst>
          </p:cNvPr>
          <p:cNvSpPr txBox="1"/>
          <p:nvPr/>
        </p:nvSpPr>
        <p:spPr>
          <a:xfrm>
            <a:off x="6984352" y="3862718"/>
            <a:ext cx="1786268" cy="430887"/>
          </a:xfrm>
          <a:prstGeom prst="rect">
            <a:avLst/>
          </a:prstGeom>
          <a:noFill/>
        </p:spPr>
        <p:txBody>
          <a:bodyPr wrap="square" rtlCol="0">
            <a:spAutoFit/>
          </a:bodyPr>
          <a:lstStyle/>
          <a:p>
            <a:r>
              <a:rPr lang="en-US" sz="1100" i="1" dirty="0">
                <a:solidFill>
                  <a:srgbClr val="0070C0"/>
                </a:solidFill>
              </a:rPr>
              <a:t>List of songs for the selected artist or genre.</a:t>
            </a:r>
          </a:p>
        </p:txBody>
      </p:sp>
      <p:sp>
        <p:nvSpPr>
          <p:cNvPr id="22" name="TextBox 21">
            <a:extLst>
              <a:ext uri="{FF2B5EF4-FFF2-40B4-BE49-F238E27FC236}">
                <a16:creationId xmlns:a16="http://schemas.microsoft.com/office/drawing/2014/main" id="{0CFD1FDA-241D-D715-3796-06E39CE5D7C6}"/>
              </a:ext>
            </a:extLst>
          </p:cNvPr>
          <p:cNvSpPr txBox="1"/>
          <p:nvPr/>
        </p:nvSpPr>
        <p:spPr>
          <a:xfrm>
            <a:off x="2921599" y="4741045"/>
            <a:ext cx="1110042" cy="938719"/>
          </a:xfrm>
          <a:prstGeom prst="rect">
            <a:avLst/>
          </a:prstGeom>
          <a:noFill/>
        </p:spPr>
        <p:txBody>
          <a:bodyPr wrap="square" rtlCol="0">
            <a:spAutoFit/>
          </a:bodyPr>
          <a:lstStyle/>
          <a:p>
            <a:r>
              <a:rPr lang="en-US" sz="1100" i="1" dirty="0">
                <a:solidFill>
                  <a:srgbClr val="0070C0"/>
                </a:solidFill>
              </a:rPr>
              <a:t>Each of these song titles should be links to the single song view</a:t>
            </a:r>
          </a:p>
        </p:txBody>
      </p:sp>
      <p:sp>
        <p:nvSpPr>
          <p:cNvPr id="23" name="TextBox 22">
            <a:extLst>
              <a:ext uri="{FF2B5EF4-FFF2-40B4-BE49-F238E27FC236}">
                <a16:creationId xmlns:a16="http://schemas.microsoft.com/office/drawing/2014/main" id="{92C44BD3-78E7-6EFD-C325-C00D94FD4D95}"/>
              </a:ext>
            </a:extLst>
          </p:cNvPr>
          <p:cNvSpPr txBox="1"/>
          <p:nvPr/>
        </p:nvSpPr>
        <p:spPr>
          <a:xfrm>
            <a:off x="5501664" y="4746192"/>
            <a:ext cx="1141396" cy="600164"/>
          </a:xfrm>
          <a:prstGeom prst="rect">
            <a:avLst/>
          </a:prstGeom>
          <a:noFill/>
        </p:spPr>
        <p:txBody>
          <a:bodyPr wrap="square" rtlCol="0">
            <a:spAutoFit/>
          </a:bodyPr>
          <a:lstStyle/>
          <a:p>
            <a:r>
              <a:rPr lang="en-US" sz="1100" i="1" dirty="0">
                <a:solidFill>
                  <a:srgbClr val="0070C0"/>
                </a:solidFill>
              </a:rPr>
              <a:t>Should be a way to add a song to a playlist</a:t>
            </a:r>
          </a:p>
        </p:txBody>
      </p:sp>
      <p:cxnSp>
        <p:nvCxnSpPr>
          <p:cNvPr id="24" name="Straight Connector 23">
            <a:extLst>
              <a:ext uri="{FF2B5EF4-FFF2-40B4-BE49-F238E27FC236}">
                <a16:creationId xmlns:a16="http://schemas.microsoft.com/office/drawing/2014/main" id="{14ACDC4E-77F9-E769-5B07-997686263D47}"/>
              </a:ext>
            </a:extLst>
          </p:cNvPr>
          <p:cNvCxnSpPr>
            <a:cxnSpLocks/>
          </p:cNvCxnSpPr>
          <p:nvPr/>
        </p:nvCxnSpPr>
        <p:spPr>
          <a:xfrm flipV="1">
            <a:off x="6351417" y="4186126"/>
            <a:ext cx="0" cy="531817"/>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5ACE2D72-332A-5E32-AED3-90E17117ABED}"/>
              </a:ext>
            </a:extLst>
          </p:cNvPr>
          <p:cNvSpPr txBox="1"/>
          <p:nvPr/>
        </p:nvSpPr>
        <p:spPr>
          <a:xfrm>
            <a:off x="4219159" y="4732902"/>
            <a:ext cx="1110042" cy="938719"/>
          </a:xfrm>
          <a:prstGeom prst="rect">
            <a:avLst/>
          </a:prstGeom>
          <a:noFill/>
        </p:spPr>
        <p:txBody>
          <a:bodyPr wrap="square" rtlCol="0">
            <a:spAutoFit/>
          </a:bodyPr>
          <a:lstStyle/>
          <a:p>
            <a:r>
              <a:rPr lang="en-US" sz="1100" i="1" dirty="0">
                <a:solidFill>
                  <a:srgbClr val="0070C0"/>
                </a:solidFill>
              </a:rPr>
              <a:t>Each of these artist names should be links to the single artist  view</a:t>
            </a:r>
          </a:p>
        </p:txBody>
      </p:sp>
      <p:cxnSp>
        <p:nvCxnSpPr>
          <p:cNvPr id="26" name="Straight Connector 25">
            <a:extLst>
              <a:ext uri="{FF2B5EF4-FFF2-40B4-BE49-F238E27FC236}">
                <a16:creationId xmlns:a16="http://schemas.microsoft.com/office/drawing/2014/main" id="{8518C41E-EBB7-4841-76E0-2F97E3DE3BCA}"/>
              </a:ext>
            </a:extLst>
          </p:cNvPr>
          <p:cNvCxnSpPr>
            <a:cxnSpLocks/>
          </p:cNvCxnSpPr>
          <p:nvPr/>
        </p:nvCxnSpPr>
        <p:spPr>
          <a:xfrm flipV="1">
            <a:off x="4650803" y="4143115"/>
            <a:ext cx="0" cy="531817"/>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4000966-A1B1-568A-7473-B74A69413E82}"/>
              </a:ext>
            </a:extLst>
          </p:cNvPr>
          <p:cNvCxnSpPr>
            <a:cxnSpLocks/>
          </p:cNvCxnSpPr>
          <p:nvPr/>
        </p:nvCxnSpPr>
        <p:spPr>
          <a:xfrm flipV="1">
            <a:off x="3274931" y="4175361"/>
            <a:ext cx="0" cy="531817"/>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41C1DFA8-E57F-A158-4C88-2911806B4791}"/>
              </a:ext>
            </a:extLst>
          </p:cNvPr>
          <p:cNvSpPr txBox="1"/>
          <p:nvPr/>
        </p:nvSpPr>
        <p:spPr>
          <a:xfrm>
            <a:off x="3815825" y="5741460"/>
            <a:ext cx="2135834" cy="600164"/>
          </a:xfrm>
          <a:prstGeom prst="rect">
            <a:avLst/>
          </a:prstGeom>
          <a:noFill/>
        </p:spPr>
        <p:txBody>
          <a:bodyPr wrap="square" rtlCol="0">
            <a:spAutoFit/>
          </a:bodyPr>
          <a:lstStyle/>
          <a:p>
            <a:r>
              <a:rPr lang="en-US" sz="1100" i="1" dirty="0">
                <a:solidFill>
                  <a:srgbClr val="0070C0"/>
                </a:solidFill>
              </a:rPr>
              <a:t>When user adds a song to playlist, then use some type of toaster notification (see Lab9b).</a:t>
            </a:r>
          </a:p>
        </p:txBody>
      </p:sp>
    </p:spTree>
    <p:extLst>
      <p:ext uri="{BB962C8B-B14F-4D97-AF65-F5344CB8AC3E}">
        <p14:creationId xmlns:p14="http://schemas.microsoft.com/office/powerpoint/2010/main" val="3794217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C8CBB-435D-BB70-B299-64CB7714ED2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E311E13-4A7F-95A3-CF8D-2C77A67B1A17}"/>
              </a:ext>
            </a:extLst>
          </p:cNvPr>
          <p:cNvSpPr/>
          <p:nvPr/>
        </p:nvSpPr>
        <p:spPr>
          <a:xfrm>
            <a:off x="2412602" y="1052704"/>
            <a:ext cx="4434765" cy="539937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 name="Rectangle 2">
            <a:extLst>
              <a:ext uri="{FF2B5EF4-FFF2-40B4-BE49-F238E27FC236}">
                <a16:creationId xmlns:a16="http://schemas.microsoft.com/office/drawing/2014/main" id="{4CA0FDF4-BF90-C803-9A4E-226D9713886A}"/>
              </a:ext>
            </a:extLst>
          </p:cNvPr>
          <p:cNvSpPr/>
          <p:nvPr/>
        </p:nvSpPr>
        <p:spPr>
          <a:xfrm>
            <a:off x="2681238" y="4286578"/>
            <a:ext cx="3987210" cy="204678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60311571-8962-51FD-87D3-F61401C3D403}"/>
              </a:ext>
            </a:extLst>
          </p:cNvPr>
          <p:cNvSpPr txBox="1"/>
          <p:nvPr/>
        </p:nvSpPr>
        <p:spPr>
          <a:xfrm>
            <a:off x="3915608" y="1235934"/>
            <a:ext cx="1337443" cy="276999"/>
          </a:xfrm>
          <a:prstGeom prst="rect">
            <a:avLst/>
          </a:prstGeom>
          <a:noFill/>
        </p:spPr>
        <p:txBody>
          <a:bodyPr wrap="square" rtlCol="0">
            <a:spAutoFit/>
          </a:bodyPr>
          <a:lstStyle/>
          <a:p>
            <a:r>
              <a:rPr lang="en-US" sz="1200" b="1" dirty="0"/>
              <a:t>Playlists</a:t>
            </a:r>
          </a:p>
        </p:txBody>
      </p:sp>
      <p:sp>
        <p:nvSpPr>
          <p:cNvPr id="5" name="TextBox 4">
            <a:extLst>
              <a:ext uri="{FF2B5EF4-FFF2-40B4-BE49-F238E27FC236}">
                <a16:creationId xmlns:a16="http://schemas.microsoft.com/office/drawing/2014/main" id="{A3604491-8EAB-F0B7-A597-7A1AF9B5375F}"/>
              </a:ext>
            </a:extLst>
          </p:cNvPr>
          <p:cNvSpPr txBox="1"/>
          <p:nvPr/>
        </p:nvSpPr>
        <p:spPr>
          <a:xfrm>
            <a:off x="2945324" y="4294720"/>
            <a:ext cx="1517763" cy="246221"/>
          </a:xfrm>
          <a:prstGeom prst="rect">
            <a:avLst/>
          </a:prstGeom>
          <a:noFill/>
        </p:spPr>
        <p:txBody>
          <a:bodyPr wrap="square" rtlCol="0">
            <a:spAutoFit/>
          </a:bodyPr>
          <a:lstStyle/>
          <a:p>
            <a:r>
              <a:rPr lang="en-US" sz="1000" b="1" dirty="0"/>
              <a:t>Title</a:t>
            </a:r>
          </a:p>
        </p:txBody>
      </p:sp>
      <p:sp>
        <p:nvSpPr>
          <p:cNvPr id="6" name="Rectangle 5">
            <a:extLst>
              <a:ext uri="{FF2B5EF4-FFF2-40B4-BE49-F238E27FC236}">
                <a16:creationId xmlns:a16="http://schemas.microsoft.com/office/drawing/2014/main" id="{4032F06F-F0E0-1F5E-BF54-E15301DF429C}"/>
              </a:ext>
            </a:extLst>
          </p:cNvPr>
          <p:cNvSpPr/>
          <p:nvPr/>
        </p:nvSpPr>
        <p:spPr>
          <a:xfrm>
            <a:off x="6212922" y="4606330"/>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7" name="TextBox 6">
            <a:extLst>
              <a:ext uri="{FF2B5EF4-FFF2-40B4-BE49-F238E27FC236}">
                <a16:creationId xmlns:a16="http://schemas.microsoft.com/office/drawing/2014/main" id="{8702C92C-CDB1-CA35-E9D8-0447EC90454F}"/>
              </a:ext>
            </a:extLst>
          </p:cNvPr>
          <p:cNvSpPr txBox="1"/>
          <p:nvPr/>
        </p:nvSpPr>
        <p:spPr>
          <a:xfrm>
            <a:off x="4356403" y="4286577"/>
            <a:ext cx="1141396" cy="246221"/>
          </a:xfrm>
          <a:prstGeom prst="rect">
            <a:avLst/>
          </a:prstGeom>
          <a:noFill/>
        </p:spPr>
        <p:txBody>
          <a:bodyPr wrap="square" rtlCol="0">
            <a:spAutoFit/>
          </a:bodyPr>
          <a:lstStyle/>
          <a:p>
            <a:r>
              <a:rPr lang="en-US" sz="1000" b="1" dirty="0"/>
              <a:t>Artist</a:t>
            </a:r>
          </a:p>
        </p:txBody>
      </p:sp>
      <p:sp>
        <p:nvSpPr>
          <p:cNvPr id="8" name="TextBox 7">
            <a:extLst>
              <a:ext uri="{FF2B5EF4-FFF2-40B4-BE49-F238E27FC236}">
                <a16:creationId xmlns:a16="http://schemas.microsoft.com/office/drawing/2014/main" id="{CAD0BA04-2536-58A6-3F38-EF1A283495D6}"/>
              </a:ext>
            </a:extLst>
          </p:cNvPr>
          <p:cNvSpPr txBox="1"/>
          <p:nvPr/>
        </p:nvSpPr>
        <p:spPr>
          <a:xfrm>
            <a:off x="5386522" y="4280104"/>
            <a:ext cx="1141396" cy="246221"/>
          </a:xfrm>
          <a:prstGeom prst="rect">
            <a:avLst/>
          </a:prstGeom>
          <a:noFill/>
        </p:spPr>
        <p:txBody>
          <a:bodyPr wrap="square" rtlCol="0">
            <a:spAutoFit/>
          </a:bodyPr>
          <a:lstStyle/>
          <a:p>
            <a:r>
              <a:rPr lang="en-US" sz="1000" b="1" dirty="0"/>
              <a:t>Year</a:t>
            </a:r>
          </a:p>
        </p:txBody>
      </p:sp>
      <p:sp>
        <p:nvSpPr>
          <p:cNvPr id="9" name="TextBox 8">
            <a:extLst>
              <a:ext uri="{FF2B5EF4-FFF2-40B4-BE49-F238E27FC236}">
                <a16:creationId xmlns:a16="http://schemas.microsoft.com/office/drawing/2014/main" id="{20C7D3F0-F93F-A94B-2C2C-30A8168D90F6}"/>
              </a:ext>
            </a:extLst>
          </p:cNvPr>
          <p:cNvSpPr txBox="1"/>
          <p:nvPr/>
        </p:nvSpPr>
        <p:spPr>
          <a:xfrm>
            <a:off x="2977526" y="4584899"/>
            <a:ext cx="1517763" cy="246221"/>
          </a:xfrm>
          <a:prstGeom prst="rect">
            <a:avLst/>
          </a:prstGeom>
          <a:noFill/>
        </p:spPr>
        <p:txBody>
          <a:bodyPr wrap="square" rtlCol="0">
            <a:spAutoFit/>
          </a:bodyPr>
          <a:lstStyle/>
          <a:p>
            <a:r>
              <a:rPr lang="en-US" sz="1000" dirty="0"/>
              <a:t>Love is here</a:t>
            </a:r>
          </a:p>
        </p:txBody>
      </p:sp>
      <p:sp>
        <p:nvSpPr>
          <p:cNvPr id="10" name="TextBox 9">
            <a:extLst>
              <a:ext uri="{FF2B5EF4-FFF2-40B4-BE49-F238E27FC236}">
                <a16:creationId xmlns:a16="http://schemas.microsoft.com/office/drawing/2014/main" id="{186FA4A1-1FE3-EA1B-AD4A-6C9F1A162287}"/>
              </a:ext>
            </a:extLst>
          </p:cNvPr>
          <p:cNvSpPr txBox="1"/>
          <p:nvPr/>
        </p:nvSpPr>
        <p:spPr>
          <a:xfrm>
            <a:off x="4388605" y="4576756"/>
            <a:ext cx="1141396" cy="246221"/>
          </a:xfrm>
          <a:prstGeom prst="rect">
            <a:avLst/>
          </a:prstGeom>
          <a:noFill/>
        </p:spPr>
        <p:txBody>
          <a:bodyPr wrap="square" rtlCol="0">
            <a:spAutoFit/>
          </a:bodyPr>
          <a:lstStyle/>
          <a:p>
            <a:r>
              <a:rPr lang="en-US" sz="1000" dirty="0"/>
              <a:t>Foo</a:t>
            </a:r>
          </a:p>
        </p:txBody>
      </p:sp>
      <p:sp>
        <p:nvSpPr>
          <p:cNvPr id="11" name="TextBox 10">
            <a:extLst>
              <a:ext uri="{FF2B5EF4-FFF2-40B4-BE49-F238E27FC236}">
                <a16:creationId xmlns:a16="http://schemas.microsoft.com/office/drawing/2014/main" id="{32E4D508-EE97-AEF7-90AA-C73068D3AA02}"/>
              </a:ext>
            </a:extLst>
          </p:cNvPr>
          <p:cNvSpPr txBox="1"/>
          <p:nvPr/>
        </p:nvSpPr>
        <p:spPr>
          <a:xfrm>
            <a:off x="5418724" y="4570283"/>
            <a:ext cx="551430" cy="246221"/>
          </a:xfrm>
          <a:prstGeom prst="rect">
            <a:avLst/>
          </a:prstGeom>
          <a:noFill/>
        </p:spPr>
        <p:txBody>
          <a:bodyPr wrap="square" rtlCol="0">
            <a:spAutoFit/>
          </a:bodyPr>
          <a:lstStyle/>
          <a:p>
            <a:r>
              <a:rPr lang="en-US" sz="1000" dirty="0"/>
              <a:t>2018</a:t>
            </a:r>
          </a:p>
        </p:txBody>
      </p:sp>
      <p:sp>
        <p:nvSpPr>
          <p:cNvPr id="12" name="Rectangle 11">
            <a:extLst>
              <a:ext uri="{FF2B5EF4-FFF2-40B4-BE49-F238E27FC236}">
                <a16:creationId xmlns:a16="http://schemas.microsoft.com/office/drawing/2014/main" id="{55EBD870-6F0A-AC03-C967-B57E50205FE9}"/>
              </a:ext>
            </a:extLst>
          </p:cNvPr>
          <p:cNvSpPr/>
          <p:nvPr/>
        </p:nvSpPr>
        <p:spPr>
          <a:xfrm>
            <a:off x="6212922" y="4947172"/>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13" name="TextBox 12">
            <a:extLst>
              <a:ext uri="{FF2B5EF4-FFF2-40B4-BE49-F238E27FC236}">
                <a16:creationId xmlns:a16="http://schemas.microsoft.com/office/drawing/2014/main" id="{AF770F34-BD9E-3EBC-4163-69C547C7E69A}"/>
              </a:ext>
            </a:extLst>
          </p:cNvPr>
          <p:cNvSpPr txBox="1"/>
          <p:nvPr/>
        </p:nvSpPr>
        <p:spPr>
          <a:xfrm>
            <a:off x="2977526" y="4925741"/>
            <a:ext cx="1517763" cy="246221"/>
          </a:xfrm>
          <a:prstGeom prst="rect">
            <a:avLst/>
          </a:prstGeom>
          <a:noFill/>
        </p:spPr>
        <p:txBody>
          <a:bodyPr wrap="square" rtlCol="0">
            <a:spAutoFit/>
          </a:bodyPr>
          <a:lstStyle/>
          <a:p>
            <a:r>
              <a:rPr lang="en-US" sz="1000" dirty="0"/>
              <a:t>Bar is the way</a:t>
            </a:r>
          </a:p>
        </p:txBody>
      </p:sp>
      <p:sp>
        <p:nvSpPr>
          <p:cNvPr id="14" name="TextBox 13">
            <a:extLst>
              <a:ext uri="{FF2B5EF4-FFF2-40B4-BE49-F238E27FC236}">
                <a16:creationId xmlns:a16="http://schemas.microsoft.com/office/drawing/2014/main" id="{894E7CDC-F264-C976-A5E9-F17EE737960E}"/>
              </a:ext>
            </a:extLst>
          </p:cNvPr>
          <p:cNvSpPr txBox="1"/>
          <p:nvPr/>
        </p:nvSpPr>
        <p:spPr>
          <a:xfrm>
            <a:off x="4388605" y="4917598"/>
            <a:ext cx="1141396" cy="246221"/>
          </a:xfrm>
          <a:prstGeom prst="rect">
            <a:avLst/>
          </a:prstGeom>
          <a:noFill/>
        </p:spPr>
        <p:txBody>
          <a:bodyPr wrap="square" rtlCol="0">
            <a:spAutoFit/>
          </a:bodyPr>
          <a:lstStyle/>
          <a:p>
            <a:r>
              <a:rPr lang="en-US" sz="1000" dirty="0"/>
              <a:t>Foo</a:t>
            </a:r>
          </a:p>
        </p:txBody>
      </p:sp>
      <p:sp>
        <p:nvSpPr>
          <p:cNvPr id="15" name="TextBox 14">
            <a:extLst>
              <a:ext uri="{FF2B5EF4-FFF2-40B4-BE49-F238E27FC236}">
                <a16:creationId xmlns:a16="http://schemas.microsoft.com/office/drawing/2014/main" id="{C9F8C272-B692-E819-5B51-A9B1F2633275}"/>
              </a:ext>
            </a:extLst>
          </p:cNvPr>
          <p:cNvSpPr txBox="1"/>
          <p:nvPr/>
        </p:nvSpPr>
        <p:spPr>
          <a:xfrm>
            <a:off x="5418724" y="4911125"/>
            <a:ext cx="551430" cy="246221"/>
          </a:xfrm>
          <a:prstGeom prst="rect">
            <a:avLst/>
          </a:prstGeom>
          <a:noFill/>
        </p:spPr>
        <p:txBody>
          <a:bodyPr wrap="square" rtlCol="0">
            <a:spAutoFit/>
          </a:bodyPr>
          <a:lstStyle/>
          <a:p>
            <a:r>
              <a:rPr lang="en-US" sz="1000" dirty="0"/>
              <a:t>2019</a:t>
            </a:r>
          </a:p>
        </p:txBody>
      </p:sp>
      <p:sp>
        <p:nvSpPr>
          <p:cNvPr id="16" name="TextBox 15">
            <a:extLst>
              <a:ext uri="{FF2B5EF4-FFF2-40B4-BE49-F238E27FC236}">
                <a16:creationId xmlns:a16="http://schemas.microsoft.com/office/drawing/2014/main" id="{4D959E3A-6B5D-0BFC-C391-BA126A0CAF06}"/>
              </a:ext>
            </a:extLst>
          </p:cNvPr>
          <p:cNvSpPr txBox="1"/>
          <p:nvPr/>
        </p:nvSpPr>
        <p:spPr>
          <a:xfrm>
            <a:off x="12231957" y="-318167"/>
            <a:ext cx="1505389" cy="400110"/>
          </a:xfrm>
          <a:prstGeom prst="rect">
            <a:avLst/>
          </a:prstGeom>
          <a:noFill/>
        </p:spPr>
        <p:txBody>
          <a:bodyPr wrap="square" rtlCol="0">
            <a:spAutoFit/>
          </a:bodyPr>
          <a:lstStyle/>
          <a:p>
            <a:r>
              <a:rPr lang="en-US" sz="1000" dirty="0"/>
              <a:t>Name, type, description, </a:t>
            </a:r>
            <a:r>
              <a:rPr lang="en-US" sz="1000" dirty="0" err="1"/>
              <a:t>url</a:t>
            </a:r>
            <a:r>
              <a:rPr lang="en-US" sz="1000" dirty="0"/>
              <a:t> (as working link)</a:t>
            </a:r>
          </a:p>
        </p:txBody>
      </p:sp>
      <p:sp>
        <p:nvSpPr>
          <p:cNvPr id="17" name="Rectangle 16">
            <a:extLst>
              <a:ext uri="{FF2B5EF4-FFF2-40B4-BE49-F238E27FC236}">
                <a16:creationId xmlns:a16="http://schemas.microsoft.com/office/drawing/2014/main" id="{60100EA1-4E4B-8DF3-5B94-36F3B74344C9}"/>
              </a:ext>
            </a:extLst>
          </p:cNvPr>
          <p:cNvSpPr/>
          <p:nvPr/>
        </p:nvSpPr>
        <p:spPr>
          <a:xfrm>
            <a:off x="2641517" y="1686038"/>
            <a:ext cx="3996010" cy="105970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BBC82880-54EC-D190-C987-A75DDF225568}"/>
              </a:ext>
            </a:extLst>
          </p:cNvPr>
          <p:cNvSpPr txBox="1"/>
          <p:nvPr/>
        </p:nvSpPr>
        <p:spPr>
          <a:xfrm>
            <a:off x="2781302" y="5546445"/>
            <a:ext cx="1241539" cy="769441"/>
          </a:xfrm>
          <a:prstGeom prst="rect">
            <a:avLst/>
          </a:prstGeom>
          <a:noFill/>
        </p:spPr>
        <p:txBody>
          <a:bodyPr wrap="square" rtlCol="0">
            <a:spAutoFit/>
          </a:bodyPr>
          <a:lstStyle/>
          <a:p>
            <a:r>
              <a:rPr lang="en-US" sz="1100" i="1" dirty="0">
                <a:solidFill>
                  <a:srgbClr val="0070C0"/>
                </a:solidFill>
              </a:rPr>
              <a:t>Each of these song titles should be links to the single song view</a:t>
            </a:r>
          </a:p>
        </p:txBody>
      </p:sp>
      <p:sp>
        <p:nvSpPr>
          <p:cNvPr id="23" name="TextBox 22">
            <a:extLst>
              <a:ext uri="{FF2B5EF4-FFF2-40B4-BE49-F238E27FC236}">
                <a16:creationId xmlns:a16="http://schemas.microsoft.com/office/drawing/2014/main" id="{5AACDEE0-71C5-666E-914B-3EA48FF91649}"/>
              </a:ext>
            </a:extLst>
          </p:cNvPr>
          <p:cNvSpPr txBox="1"/>
          <p:nvPr/>
        </p:nvSpPr>
        <p:spPr>
          <a:xfrm>
            <a:off x="5492864" y="5551592"/>
            <a:ext cx="1141396" cy="600164"/>
          </a:xfrm>
          <a:prstGeom prst="rect">
            <a:avLst/>
          </a:prstGeom>
          <a:noFill/>
        </p:spPr>
        <p:txBody>
          <a:bodyPr wrap="square" rtlCol="0">
            <a:spAutoFit/>
          </a:bodyPr>
          <a:lstStyle/>
          <a:p>
            <a:r>
              <a:rPr lang="en-US" sz="1100" i="1" dirty="0">
                <a:solidFill>
                  <a:srgbClr val="0070C0"/>
                </a:solidFill>
              </a:rPr>
              <a:t>Should be a way to remove a song to a playlist</a:t>
            </a:r>
          </a:p>
        </p:txBody>
      </p:sp>
      <p:sp>
        <p:nvSpPr>
          <p:cNvPr id="25" name="TextBox 24">
            <a:extLst>
              <a:ext uri="{FF2B5EF4-FFF2-40B4-BE49-F238E27FC236}">
                <a16:creationId xmlns:a16="http://schemas.microsoft.com/office/drawing/2014/main" id="{B4401110-6B6E-B6F2-E16C-44D3D67C7596}"/>
              </a:ext>
            </a:extLst>
          </p:cNvPr>
          <p:cNvSpPr txBox="1"/>
          <p:nvPr/>
        </p:nvSpPr>
        <p:spPr>
          <a:xfrm>
            <a:off x="4099082" y="5563922"/>
            <a:ext cx="1319642" cy="769441"/>
          </a:xfrm>
          <a:prstGeom prst="rect">
            <a:avLst/>
          </a:prstGeom>
          <a:noFill/>
        </p:spPr>
        <p:txBody>
          <a:bodyPr wrap="square" rtlCol="0">
            <a:spAutoFit/>
          </a:bodyPr>
          <a:lstStyle/>
          <a:p>
            <a:r>
              <a:rPr lang="en-US" sz="1100" i="1" dirty="0">
                <a:solidFill>
                  <a:srgbClr val="0070C0"/>
                </a:solidFill>
              </a:rPr>
              <a:t>Each of these artist names should be links to the single artist  view</a:t>
            </a:r>
          </a:p>
        </p:txBody>
      </p:sp>
      <p:cxnSp>
        <p:nvCxnSpPr>
          <p:cNvPr id="26" name="Straight Connector 25">
            <a:extLst>
              <a:ext uri="{FF2B5EF4-FFF2-40B4-BE49-F238E27FC236}">
                <a16:creationId xmlns:a16="http://schemas.microsoft.com/office/drawing/2014/main" id="{28D443D9-BA24-12D5-B1AD-E6DD95F5C1DA}"/>
              </a:ext>
            </a:extLst>
          </p:cNvPr>
          <p:cNvCxnSpPr>
            <a:cxnSpLocks/>
          </p:cNvCxnSpPr>
          <p:nvPr/>
        </p:nvCxnSpPr>
        <p:spPr>
          <a:xfrm flipV="1">
            <a:off x="4639522" y="5206138"/>
            <a:ext cx="2481" cy="325477"/>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31AD20F-6B9D-3F7C-8A26-D32D0E455988}"/>
              </a:ext>
            </a:extLst>
          </p:cNvPr>
          <p:cNvSpPr txBox="1"/>
          <p:nvPr/>
        </p:nvSpPr>
        <p:spPr>
          <a:xfrm>
            <a:off x="6937084" y="4797013"/>
            <a:ext cx="2135834" cy="600164"/>
          </a:xfrm>
          <a:prstGeom prst="rect">
            <a:avLst/>
          </a:prstGeom>
          <a:noFill/>
        </p:spPr>
        <p:txBody>
          <a:bodyPr wrap="square" rtlCol="0">
            <a:spAutoFit/>
          </a:bodyPr>
          <a:lstStyle/>
          <a:p>
            <a:r>
              <a:rPr lang="en-US" sz="1100" i="1" dirty="0">
                <a:solidFill>
                  <a:srgbClr val="0070C0"/>
                </a:solidFill>
              </a:rPr>
              <a:t>When user removes a song from a playlist, then use some type of toaster notification (see Lab9b).</a:t>
            </a:r>
          </a:p>
        </p:txBody>
      </p:sp>
      <p:sp>
        <p:nvSpPr>
          <p:cNvPr id="18" name="TextBox 17">
            <a:extLst>
              <a:ext uri="{FF2B5EF4-FFF2-40B4-BE49-F238E27FC236}">
                <a16:creationId xmlns:a16="http://schemas.microsoft.com/office/drawing/2014/main" id="{7E872AEC-BB10-7C5A-FD8B-0351ED44E886}"/>
              </a:ext>
            </a:extLst>
          </p:cNvPr>
          <p:cNvSpPr txBox="1"/>
          <p:nvPr/>
        </p:nvSpPr>
        <p:spPr>
          <a:xfrm>
            <a:off x="6898697" y="1293099"/>
            <a:ext cx="2612065" cy="1785104"/>
          </a:xfrm>
          <a:prstGeom prst="rect">
            <a:avLst/>
          </a:prstGeom>
          <a:noFill/>
        </p:spPr>
        <p:txBody>
          <a:bodyPr wrap="square" rtlCol="0">
            <a:spAutoFit/>
          </a:bodyPr>
          <a:lstStyle/>
          <a:p>
            <a:r>
              <a:rPr lang="en-US" sz="1100" i="1" dirty="0">
                <a:solidFill>
                  <a:srgbClr val="0070C0"/>
                </a:solidFill>
              </a:rPr>
              <a:t>Display a list of existing playlists for this user. Each playlist should have a name. Also display the number of songs in the playlist, plus provide a way to delete a playlist. </a:t>
            </a:r>
          </a:p>
          <a:p>
            <a:endParaRPr lang="en-US" sz="1100" i="1" dirty="0">
              <a:solidFill>
                <a:srgbClr val="0070C0"/>
              </a:solidFill>
            </a:endParaRPr>
          </a:p>
          <a:p>
            <a:r>
              <a:rPr lang="en-US" sz="1100" i="1" dirty="0">
                <a:solidFill>
                  <a:srgbClr val="0070C0"/>
                </a:solidFill>
              </a:rPr>
              <a:t>When the user clicks a playlist, it becomes the current playlist. Its contents will be shown below; as well, the Add-to-Playlist buttons will modify this playlist.</a:t>
            </a:r>
          </a:p>
        </p:txBody>
      </p:sp>
      <p:sp>
        <p:nvSpPr>
          <p:cNvPr id="29" name="Rectangle 28">
            <a:extLst>
              <a:ext uri="{FF2B5EF4-FFF2-40B4-BE49-F238E27FC236}">
                <a16:creationId xmlns:a16="http://schemas.microsoft.com/office/drawing/2014/main" id="{5F5A217D-D92F-E8D6-538F-CAECE9F55820}"/>
              </a:ext>
            </a:extLst>
          </p:cNvPr>
          <p:cNvSpPr/>
          <p:nvPr/>
        </p:nvSpPr>
        <p:spPr>
          <a:xfrm>
            <a:off x="5118284" y="2110690"/>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30" name="TextBox 29">
            <a:extLst>
              <a:ext uri="{FF2B5EF4-FFF2-40B4-BE49-F238E27FC236}">
                <a16:creationId xmlns:a16="http://schemas.microsoft.com/office/drawing/2014/main" id="{38B61166-80DF-8D12-1CC8-244D163A99A9}"/>
              </a:ext>
            </a:extLst>
          </p:cNvPr>
          <p:cNvSpPr txBox="1"/>
          <p:nvPr/>
        </p:nvSpPr>
        <p:spPr>
          <a:xfrm>
            <a:off x="2818322" y="1799739"/>
            <a:ext cx="1141396" cy="246221"/>
          </a:xfrm>
          <a:prstGeom prst="rect">
            <a:avLst/>
          </a:prstGeom>
          <a:noFill/>
        </p:spPr>
        <p:txBody>
          <a:bodyPr wrap="square" rtlCol="0">
            <a:spAutoFit/>
          </a:bodyPr>
          <a:lstStyle/>
          <a:p>
            <a:r>
              <a:rPr lang="en-US" sz="1000" b="1" dirty="0"/>
              <a:t>Name</a:t>
            </a:r>
          </a:p>
        </p:txBody>
      </p:sp>
      <p:sp>
        <p:nvSpPr>
          <p:cNvPr id="31" name="TextBox 30">
            <a:extLst>
              <a:ext uri="{FF2B5EF4-FFF2-40B4-BE49-F238E27FC236}">
                <a16:creationId xmlns:a16="http://schemas.microsoft.com/office/drawing/2014/main" id="{2A06A7AE-44E2-B654-5228-E39B3ADF4432}"/>
              </a:ext>
            </a:extLst>
          </p:cNvPr>
          <p:cNvSpPr txBox="1"/>
          <p:nvPr/>
        </p:nvSpPr>
        <p:spPr>
          <a:xfrm>
            <a:off x="4291884" y="1784464"/>
            <a:ext cx="1141396" cy="246221"/>
          </a:xfrm>
          <a:prstGeom prst="rect">
            <a:avLst/>
          </a:prstGeom>
          <a:noFill/>
        </p:spPr>
        <p:txBody>
          <a:bodyPr wrap="square" rtlCol="0">
            <a:spAutoFit/>
          </a:bodyPr>
          <a:lstStyle/>
          <a:p>
            <a:r>
              <a:rPr lang="en-US" sz="1000" b="1" dirty="0"/>
              <a:t># Songs</a:t>
            </a:r>
          </a:p>
        </p:txBody>
      </p:sp>
      <p:sp>
        <p:nvSpPr>
          <p:cNvPr id="32" name="TextBox 31">
            <a:extLst>
              <a:ext uri="{FF2B5EF4-FFF2-40B4-BE49-F238E27FC236}">
                <a16:creationId xmlns:a16="http://schemas.microsoft.com/office/drawing/2014/main" id="{238BEFB2-81D2-9FD2-D577-16579A2DA1BE}"/>
              </a:ext>
            </a:extLst>
          </p:cNvPr>
          <p:cNvSpPr txBox="1"/>
          <p:nvPr/>
        </p:nvSpPr>
        <p:spPr>
          <a:xfrm>
            <a:off x="2850524" y="2089918"/>
            <a:ext cx="1141396" cy="246221"/>
          </a:xfrm>
          <a:prstGeom prst="rect">
            <a:avLst/>
          </a:prstGeom>
          <a:noFill/>
        </p:spPr>
        <p:txBody>
          <a:bodyPr wrap="square" rtlCol="0">
            <a:spAutoFit/>
          </a:bodyPr>
          <a:lstStyle/>
          <a:p>
            <a:r>
              <a:rPr lang="en-US" sz="1000" dirty="0"/>
              <a:t>Best of Foo</a:t>
            </a:r>
          </a:p>
        </p:txBody>
      </p:sp>
      <p:sp>
        <p:nvSpPr>
          <p:cNvPr id="33" name="TextBox 32">
            <a:extLst>
              <a:ext uri="{FF2B5EF4-FFF2-40B4-BE49-F238E27FC236}">
                <a16:creationId xmlns:a16="http://schemas.microsoft.com/office/drawing/2014/main" id="{28677602-BA67-5158-9121-E9BD21D8AAB9}"/>
              </a:ext>
            </a:extLst>
          </p:cNvPr>
          <p:cNvSpPr txBox="1"/>
          <p:nvPr/>
        </p:nvSpPr>
        <p:spPr>
          <a:xfrm>
            <a:off x="4324086" y="2074643"/>
            <a:ext cx="551430" cy="246221"/>
          </a:xfrm>
          <a:prstGeom prst="rect">
            <a:avLst/>
          </a:prstGeom>
          <a:noFill/>
        </p:spPr>
        <p:txBody>
          <a:bodyPr wrap="square" rtlCol="0">
            <a:spAutoFit/>
          </a:bodyPr>
          <a:lstStyle/>
          <a:p>
            <a:r>
              <a:rPr lang="en-US" sz="1000" dirty="0"/>
              <a:t>2</a:t>
            </a:r>
          </a:p>
        </p:txBody>
      </p:sp>
      <p:sp>
        <p:nvSpPr>
          <p:cNvPr id="34" name="Rectangle 33">
            <a:extLst>
              <a:ext uri="{FF2B5EF4-FFF2-40B4-BE49-F238E27FC236}">
                <a16:creationId xmlns:a16="http://schemas.microsoft.com/office/drawing/2014/main" id="{11E2A465-C4ED-1347-766F-B3690C88C821}"/>
              </a:ext>
            </a:extLst>
          </p:cNvPr>
          <p:cNvSpPr/>
          <p:nvPr/>
        </p:nvSpPr>
        <p:spPr>
          <a:xfrm>
            <a:off x="5118284" y="2451532"/>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35" name="TextBox 34">
            <a:extLst>
              <a:ext uri="{FF2B5EF4-FFF2-40B4-BE49-F238E27FC236}">
                <a16:creationId xmlns:a16="http://schemas.microsoft.com/office/drawing/2014/main" id="{C9FA617A-BF16-4383-2EE3-669B2CCB7D5C}"/>
              </a:ext>
            </a:extLst>
          </p:cNvPr>
          <p:cNvSpPr txBox="1"/>
          <p:nvPr/>
        </p:nvSpPr>
        <p:spPr>
          <a:xfrm>
            <a:off x="2850524" y="2430760"/>
            <a:ext cx="1422232" cy="246221"/>
          </a:xfrm>
          <a:prstGeom prst="rect">
            <a:avLst/>
          </a:prstGeom>
          <a:noFill/>
        </p:spPr>
        <p:txBody>
          <a:bodyPr wrap="square" rtlCol="0">
            <a:spAutoFit/>
          </a:bodyPr>
          <a:lstStyle/>
          <a:p>
            <a:r>
              <a:rPr lang="en-US" sz="1000" dirty="0"/>
              <a:t>Music for vibe coding</a:t>
            </a:r>
          </a:p>
        </p:txBody>
      </p:sp>
      <p:sp>
        <p:nvSpPr>
          <p:cNvPr id="37" name="TextBox 36">
            <a:extLst>
              <a:ext uri="{FF2B5EF4-FFF2-40B4-BE49-F238E27FC236}">
                <a16:creationId xmlns:a16="http://schemas.microsoft.com/office/drawing/2014/main" id="{E3869427-6D62-757B-BC57-D51E616B8F71}"/>
              </a:ext>
            </a:extLst>
          </p:cNvPr>
          <p:cNvSpPr txBox="1"/>
          <p:nvPr/>
        </p:nvSpPr>
        <p:spPr>
          <a:xfrm>
            <a:off x="4324086" y="2415485"/>
            <a:ext cx="551430" cy="246221"/>
          </a:xfrm>
          <a:prstGeom prst="rect">
            <a:avLst/>
          </a:prstGeom>
          <a:noFill/>
        </p:spPr>
        <p:txBody>
          <a:bodyPr wrap="square" rtlCol="0">
            <a:spAutoFit/>
          </a:bodyPr>
          <a:lstStyle/>
          <a:p>
            <a:r>
              <a:rPr lang="en-US" sz="1000" dirty="0"/>
              <a:t>12</a:t>
            </a:r>
          </a:p>
        </p:txBody>
      </p:sp>
      <p:sp>
        <p:nvSpPr>
          <p:cNvPr id="38" name="Rectangle 37">
            <a:extLst>
              <a:ext uri="{FF2B5EF4-FFF2-40B4-BE49-F238E27FC236}">
                <a16:creationId xmlns:a16="http://schemas.microsoft.com/office/drawing/2014/main" id="{99090B46-8E93-5559-5A0A-64644E6991B8}"/>
              </a:ext>
            </a:extLst>
          </p:cNvPr>
          <p:cNvSpPr/>
          <p:nvPr/>
        </p:nvSpPr>
        <p:spPr>
          <a:xfrm>
            <a:off x="2638250" y="3037880"/>
            <a:ext cx="3996010" cy="86887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2" name="Straight Connector 41">
            <a:extLst>
              <a:ext uri="{FF2B5EF4-FFF2-40B4-BE49-F238E27FC236}">
                <a16:creationId xmlns:a16="http://schemas.microsoft.com/office/drawing/2014/main" id="{C8CAF211-2E76-9C36-C13F-74D8ABA4187C}"/>
              </a:ext>
            </a:extLst>
          </p:cNvPr>
          <p:cNvCxnSpPr>
            <a:cxnSpLocks/>
          </p:cNvCxnSpPr>
          <p:nvPr/>
        </p:nvCxnSpPr>
        <p:spPr>
          <a:xfrm flipV="1">
            <a:off x="5651504" y="5238445"/>
            <a:ext cx="2481" cy="325477"/>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92464C50-D5C0-0D43-EDC2-C039E6BF8DA1}"/>
              </a:ext>
            </a:extLst>
          </p:cNvPr>
          <p:cNvCxnSpPr>
            <a:cxnSpLocks/>
          </p:cNvCxnSpPr>
          <p:nvPr/>
        </p:nvCxnSpPr>
        <p:spPr>
          <a:xfrm flipV="1">
            <a:off x="3399590" y="5205383"/>
            <a:ext cx="2481" cy="325477"/>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6BC546C4-B8D3-6CAB-018A-E4351D862F56}"/>
              </a:ext>
            </a:extLst>
          </p:cNvPr>
          <p:cNvSpPr txBox="1"/>
          <p:nvPr/>
        </p:nvSpPr>
        <p:spPr>
          <a:xfrm>
            <a:off x="2772332" y="3269195"/>
            <a:ext cx="1141396" cy="246221"/>
          </a:xfrm>
          <a:prstGeom prst="rect">
            <a:avLst/>
          </a:prstGeom>
          <a:noFill/>
        </p:spPr>
        <p:txBody>
          <a:bodyPr wrap="square" rtlCol="0">
            <a:spAutoFit/>
          </a:bodyPr>
          <a:lstStyle/>
          <a:p>
            <a:r>
              <a:rPr lang="en-US" sz="1000" b="1" dirty="0"/>
              <a:t>Name</a:t>
            </a:r>
          </a:p>
        </p:txBody>
      </p:sp>
      <p:sp>
        <p:nvSpPr>
          <p:cNvPr id="45" name="Rectangle 44">
            <a:extLst>
              <a:ext uri="{FF2B5EF4-FFF2-40B4-BE49-F238E27FC236}">
                <a16:creationId xmlns:a16="http://schemas.microsoft.com/office/drawing/2014/main" id="{93963A8C-14E1-4715-C80E-02C72F1BFB3D}"/>
              </a:ext>
            </a:extLst>
          </p:cNvPr>
          <p:cNvSpPr/>
          <p:nvPr/>
        </p:nvSpPr>
        <p:spPr>
          <a:xfrm>
            <a:off x="3343030" y="3305827"/>
            <a:ext cx="1272210" cy="246221"/>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46" name="Rectangle 45">
            <a:extLst>
              <a:ext uri="{FF2B5EF4-FFF2-40B4-BE49-F238E27FC236}">
                <a16:creationId xmlns:a16="http://schemas.microsoft.com/office/drawing/2014/main" id="{540E6D33-6FF5-B5A3-F9E3-2D8946C0F4D8}"/>
              </a:ext>
            </a:extLst>
          </p:cNvPr>
          <p:cNvSpPr/>
          <p:nvPr/>
        </p:nvSpPr>
        <p:spPr>
          <a:xfrm>
            <a:off x="4839533" y="3366237"/>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47" name="TextBox 46">
            <a:extLst>
              <a:ext uri="{FF2B5EF4-FFF2-40B4-BE49-F238E27FC236}">
                <a16:creationId xmlns:a16="http://schemas.microsoft.com/office/drawing/2014/main" id="{50962E21-9D9A-FBF7-5732-322526D776E2}"/>
              </a:ext>
            </a:extLst>
          </p:cNvPr>
          <p:cNvSpPr txBox="1"/>
          <p:nvPr/>
        </p:nvSpPr>
        <p:spPr>
          <a:xfrm>
            <a:off x="2982450" y="3622705"/>
            <a:ext cx="2135834" cy="261610"/>
          </a:xfrm>
          <a:prstGeom prst="rect">
            <a:avLst/>
          </a:prstGeom>
          <a:noFill/>
        </p:spPr>
        <p:txBody>
          <a:bodyPr wrap="square" rtlCol="0">
            <a:spAutoFit/>
          </a:bodyPr>
          <a:lstStyle/>
          <a:p>
            <a:r>
              <a:rPr lang="en-US" sz="1100" i="1" dirty="0">
                <a:solidFill>
                  <a:srgbClr val="0070C0"/>
                </a:solidFill>
              </a:rPr>
              <a:t>Need a way to add a new playlist</a:t>
            </a:r>
          </a:p>
        </p:txBody>
      </p:sp>
    </p:spTree>
    <p:extLst>
      <p:ext uri="{BB962C8B-B14F-4D97-AF65-F5344CB8AC3E}">
        <p14:creationId xmlns:p14="http://schemas.microsoft.com/office/powerpoint/2010/main" val="641184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D8CD5F8-F93B-4B2C-6027-0CF98D0B0267}"/>
              </a:ext>
            </a:extLst>
          </p:cNvPr>
          <p:cNvSpPr/>
          <p:nvPr/>
        </p:nvSpPr>
        <p:spPr>
          <a:xfrm>
            <a:off x="0" y="367990"/>
            <a:ext cx="12192000" cy="6233532"/>
          </a:xfrm>
          <a:prstGeom prst="rect">
            <a:avLst/>
          </a:prstGeom>
          <a:solidFill>
            <a:srgbClr val="3B3838">
              <a:alpha val="8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2386CA72-B236-D577-D3EB-0600AD9F1B5C}"/>
              </a:ext>
            </a:extLst>
          </p:cNvPr>
          <p:cNvGrpSpPr/>
          <p:nvPr/>
        </p:nvGrpSpPr>
        <p:grpSpPr>
          <a:xfrm>
            <a:off x="1575396" y="1374503"/>
            <a:ext cx="9597610" cy="4343994"/>
            <a:chOff x="331902" y="706549"/>
            <a:chExt cx="9597610" cy="4343994"/>
          </a:xfrm>
        </p:grpSpPr>
        <p:sp>
          <p:nvSpPr>
            <p:cNvPr id="4" name="TextBox 3">
              <a:extLst>
                <a:ext uri="{FF2B5EF4-FFF2-40B4-BE49-F238E27FC236}">
                  <a16:creationId xmlns:a16="http://schemas.microsoft.com/office/drawing/2014/main" id="{2BFF3E51-8A3D-1DCD-B4DF-7343DF45A4B7}"/>
                </a:ext>
              </a:extLst>
            </p:cNvPr>
            <p:cNvSpPr txBox="1"/>
            <p:nvPr/>
          </p:nvSpPr>
          <p:spPr>
            <a:xfrm>
              <a:off x="8026433" y="1574049"/>
              <a:ext cx="1726953" cy="276999"/>
            </a:xfrm>
            <a:prstGeom prst="rect">
              <a:avLst/>
            </a:prstGeom>
            <a:noFill/>
          </p:spPr>
          <p:txBody>
            <a:bodyPr wrap="square" rtlCol="0">
              <a:spAutoFit/>
            </a:bodyPr>
            <a:lstStyle/>
            <a:p>
              <a:r>
                <a:rPr lang="en-US" sz="1200" b="1" dirty="0"/>
                <a:t>Points</a:t>
              </a:r>
            </a:p>
          </p:txBody>
        </p:sp>
        <p:sp>
          <p:nvSpPr>
            <p:cNvPr id="5" name="TextBox 4">
              <a:extLst>
                <a:ext uri="{FF2B5EF4-FFF2-40B4-BE49-F238E27FC236}">
                  <a16:creationId xmlns:a16="http://schemas.microsoft.com/office/drawing/2014/main" id="{EDB2A444-FFBF-3058-936F-5262EEB6F0AD}"/>
                </a:ext>
              </a:extLst>
            </p:cNvPr>
            <p:cNvSpPr txBox="1"/>
            <p:nvPr/>
          </p:nvSpPr>
          <p:spPr>
            <a:xfrm>
              <a:off x="7991599" y="2515021"/>
              <a:ext cx="1929501" cy="246221"/>
            </a:xfrm>
            <a:prstGeom prst="rect">
              <a:avLst/>
            </a:prstGeom>
            <a:noFill/>
          </p:spPr>
          <p:txBody>
            <a:bodyPr wrap="square" rtlCol="0">
              <a:spAutoFit/>
            </a:bodyPr>
            <a:lstStyle/>
            <a:p>
              <a:r>
                <a:rPr lang="en-US" sz="1000" dirty="0"/>
                <a:t>15</a:t>
              </a:r>
            </a:p>
          </p:txBody>
        </p:sp>
        <p:sp>
          <p:nvSpPr>
            <p:cNvPr id="6" name="TextBox 5">
              <a:extLst>
                <a:ext uri="{FF2B5EF4-FFF2-40B4-BE49-F238E27FC236}">
                  <a16:creationId xmlns:a16="http://schemas.microsoft.com/office/drawing/2014/main" id="{03F46C5A-EBA1-5BE9-97DF-6B510958F213}"/>
                </a:ext>
              </a:extLst>
            </p:cNvPr>
            <p:cNvSpPr txBox="1"/>
            <p:nvPr/>
          </p:nvSpPr>
          <p:spPr>
            <a:xfrm>
              <a:off x="8000011" y="2830742"/>
              <a:ext cx="1929501" cy="246221"/>
            </a:xfrm>
            <a:prstGeom prst="rect">
              <a:avLst/>
            </a:prstGeom>
            <a:noFill/>
          </p:spPr>
          <p:txBody>
            <a:bodyPr wrap="square" rtlCol="0">
              <a:spAutoFit/>
            </a:bodyPr>
            <a:lstStyle/>
            <a:p>
              <a:r>
                <a:rPr lang="en-US" sz="1000" dirty="0"/>
                <a:t>8</a:t>
              </a:r>
            </a:p>
          </p:txBody>
        </p:sp>
        <p:sp>
          <p:nvSpPr>
            <p:cNvPr id="7" name="Rectangle 6">
              <a:extLst>
                <a:ext uri="{FF2B5EF4-FFF2-40B4-BE49-F238E27FC236}">
                  <a16:creationId xmlns:a16="http://schemas.microsoft.com/office/drawing/2014/main" id="{E19BBD33-5D74-19FC-262E-E1B0C38AE5D3}"/>
                </a:ext>
              </a:extLst>
            </p:cNvPr>
            <p:cNvSpPr/>
            <p:nvPr/>
          </p:nvSpPr>
          <p:spPr>
            <a:xfrm>
              <a:off x="331902" y="757268"/>
              <a:ext cx="8856704" cy="429327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ounded Rectangle 68">
              <a:extLst>
                <a:ext uri="{FF2B5EF4-FFF2-40B4-BE49-F238E27FC236}">
                  <a16:creationId xmlns:a16="http://schemas.microsoft.com/office/drawing/2014/main" id="{32EC1D42-366B-CBA7-6167-39D3731FAA6B}"/>
                </a:ext>
              </a:extLst>
            </p:cNvPr>
            <p:cNvSpPr/>
            <p:nvPr/>
          </p:nvSpPr>
          <p:spPr>
            <a:xfrm>
              <a:off x="8069521" y="4472639"/>
              <a:ext cx="993741" cy="336318"/>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CEED94F-C68F-F02B-8903-EB463A33CDED}"/>
                </a:ext>
              </a:extLst>
            </p:cNvPr>
            <p:cNvSpPr txBox="1"/>
            <p:nvPr/>
          </p:nvSpPr>
          <p:spPr>
            <a:xfrm>
              <a:off x="8334441" y="4487825"/>
              <a:ext cx="526106" cy="276999"/>
            </a:xfrm>
            <a:prstGeom prst="rect">
              <a:avLst/>
            </a:prstGeom>
            <a:noFill/>
          </p:spPr>
          <p:txBody>
            <a:bodyPr wrap="none" rtlCol="0">
              <a:spAutoFit/>
            </a:bodyPr>
            <a:lstStyle/>
            <a:p>
              <a:r>
                <a:rPr lang="en-US" sz="1200" b="1" dirty="0"/>
                <a:t>Close</a:t>
              </a:r>
            </a:p>
          </p:txBody>
        </p:sp>
        <p:sp>
          <p:nvSpPr>
            <p:cNvPr id="26" name="TextBox 25">
              <a:extLst>
                <a:ext uri="{FF2B5EF4-FFF2-40B4-BE49-F238E27FC236}">
                  <a16:creationId xmlns:a16="http://schemas.microsoft.com/office/drawing/2014/main" id="{3444E330-F00A-4131-C013-89B4FE04ED4C}"/>
                </a:ext>
              </a:extLst>
            </p:cNvPr>
            <p:cNvSpPr txBox="1"/>
            <p:nvPr/>
          </p:nvSpPr>
          <p:spPr>
            <a:xfrm>
              <a:off x="1999424" y="2543697"/>
              <a:ext cx="3508260" cy="430887"/>
            </a:xfrm>
            <a:prstGeom prst="rect">
              <a:avLst/>
            </a:prstGeom>
            <a:noFill/>
          </p:spPr>
          <p:txBody>
            <a:bodyPr wrap="square" rtlCol="0">
              <a:spAutoFit/>
            </a:bodyPr>
            <a:lstStyle/>
            <a:p>
              <a:r>
                <a:rPr lang="en-US" sz="1100" i="1" dirty="0">
                  <a:solidFill>
                    <a:srgbClr val="0070C0"/>
                  </a:solidFill>
                </a:rPr>
                <a:t>Don’t just dump this info together like this: format it in a way that makes it easy to read and pleasing to look at.</a:t>
              </a:r>
            </a:p>
          </p:txBody>
        </p:sp>
        <p:sp>
          <p:nvSpPr>
            <p:cNvPr id="40" name="TextBox 39">
              <a:extLst>
                <a:ext uri="{FF2B5EF4-FFF2-40B4-BE49-F238E27FC236}">
                  <a16:creationId xmlns:a16="http://schemas.microsoft.com/office/drawing/2014/main" id="{62FEDADC-1E91-A32A-B0F5-83705610B7CD}"/>
                </a:ext>
              </a:extLst>
            </p:cNvPr>
            <p:cNvSpPr txBox="1"/>
            <p:nvPr/>
          </p:nvSpPr>
          <p:spPr>
            <a:xfrm>
              <a:off x="5507684" y="4145503"/>
              <a:ext cx="2547921" cy="769441"/>
            </a:xfrm>
            <a:prstGeom prst="rect">
              <a:avLst/>
            </a:prstGeom>
            <a:noFill/>
          </p:spPr>
          <p:txBody>
            <a:bodyPr wrap="square" rtlCol="0">
              <a:spAutoFit/>
            </a:bodyPr>
            <a:lstStyle/>
            <a:p>
              <a:r>
                <a:rPr lang="en-US" sz="1100" i="1" dirty="0">
                  <a:solidFill>
                    <a:srgbClr val="0070C0"/>
                  </a:solidFill>
                </a:rPr>
                <a:t>This should behave like a modal window (like a dialog/popup), which stays until it is closed. Often the underlying view is partly hidden.</a:t>
              </a:r>
            </a:p>
          </p:txBody>
        </p:sp>
        <p:sp>
          <p:nvSpPr>
            <p:cNvPr id="41" name="Flowchart: Summing Junction 40">
              <a:extLst>
                <a:ext uri="{FF2B5EF4-FFF2-40B4-BE49-F238E27FC236}">
                  <a16:creationId xmlns:a16="http://schemas.microsoft.com/office/drawing/2014/main" id="{9F118EB0-A421-E399-8D0A-38B914A869B0}"/>
                </a:ext>
              </a:extLst>
            </p:cNvPr>
            <p:cNvSpPr/>
            <p:nvPr/>
          </p:nvSpPr>
          <p:spPr>
            <a:xfrm>
              <a:off x="8886458" y="789258"/>
              <a:ext cx="217373" cy="217373"/>
            </a:xfrm>
            <a:prstGeom prst="flowChartSummingJunction">
              <a:avLst/>
            </a:prstGeom>
            <a:solidFill>
              <a:srgbClr val="D9D9D9"/>
            </a:solidFill>
            <a:ln w="3175">
              <a:solidFill>
                <a:srgbClr val="3B38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6F1195E9-8C3E-10D9-1A3D-F2EF38974BDA}"/>
                </a:ext>
              </a:extLst>
            </p:cNvPr>
            <p:cNvSpPr txBox="1"/>
            <p:nvPr/>
          </p:nvSpPr>
          <p:spPr>
            <a:xfrm>
              <a:off x="5777087" y="706549"/>
              <a:ext cx="3109371" cy="430887"/>
            </a:xfrm>
            <a:prstGeom prst="rect">
              <a:avLst/>
            </a:prstGeom>
            <a:noFill/>
          </p:spPr>
          <p:txBody>
            <a:bodyPr wrap="square" rtlCol="0">
              <a:spAutoFit/>
            </a:bodyPr>
            <a:lstStyle/>
            <a:p>
              <a:r>
                <a:rPr lang="en-US" sz="1100" i="1" dirty="0">
                  <a:solidFill>
                    <a:srgbClr val="0070C0"/>
                  </a:solidFill>
                </a:rPr>
                <a:t>Modal windows often provide another way to close by clicking on element in upper-right corner</a:t>
              </a:r>
            </a:p>
          </p:txBody>
        </p:sp>
        <p:sp>
          <p:nvSpPr>
            <p:cNvPr id="43" name="Rectangle 42">
              <a:extLst>
                <a:ext uri="{FF2B5EF4-FFF2-40B4-BE49-F238E27FC236}">
                  <a16:creationId xmlns:a16="http://schemas.microsoft.com/office/drawing/2014/main" id="{442F6DBE-FB82-AC2F-1401-79DCC15616C6}"/>
                </a:ext>
              </a:extLst>
            </p:cNvPr>
            <p:cNvSpPr/>
            <p:nvPr/>
          </p:nvSpPr>
          <p:spPr>
            <a:xfrm>
              <a:off x="8889424" y="1088444"/>
              <a:ext cx="225952" cy="300229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5" name="Isosceles Triangle 44">
              <a:extLst>
                <a:ext uri="{FF2B5EF4-FFF2-40B4-BE49-F238E27FC236}">
                  <a16:creationId xmlns:a16="http://schemas.microsoft.com/office/drawing/2014/main" id="{38F84F4E-CA26-4D7B-3327-92D2C150A44C}"/>
                </a:ext>
              </a:extLst>
            </p:cNvPr>
            <p:cNvSpPr/>
            <p:nvPr/>
          </p:nvSpPr>
          <p:spPr>
            <a:xfrm rot="10800000">
              <a:off x="8907165" y="3957387"/>
              <a:ext cx="145603" cy="133350"/>
            </a:xfrm>
            <a:prstGeom prst="triangl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46" name="Isosceles Triangle 45">
              <a:extLst>
                <a:ext uri="{FF2B5EF4-FFF2-40B4-BE49-F238E27FC236}">
                  <a16:creationId xmlns:a16="http://schemas.microsoft.com/office/drawing/2014/main" id="{31E92F79-9FC8-A244-6C71-10462A07DFF8}"/>
                </a:ext>
              </a:extLst>
            </p:cNvPr>
            <p:cNvSpPr/>
            <p:nvPr/>
          </p:nvSpPr>
          <p:spPr>
            <a:xfrm>
              <a:off x="8918785" y="1093621"/>
              <a:ext cx="145603" cy="133350"/>
            </a:xfrm>
            <a:prstGeom prst="triangl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47" name="TextBox 46">
              <a:extLst>
                <a:ext uri="{FF2B5EF4-FFF2-40B4-BE49-F238E27FC236}">
                  <a16:creationId xmlns:a16="http://schemas.microsoft.com/office/drawing/2014/main" id="{DEBB54F5-4A3E-D8AA-0DA5-DC86245BFC55}"/>
                </a:ext>
              </a:extLst>
            </p:cNvPr>
            <p:cNvSpPr txBox="1"/>
            <p:nvPr/>
          </p:nvSpPr>
          <p:spPr>
            <a:xfrm>
              <a:off x="2055565" y="1699412"/>
              <a:ext cx="3392297" cy="600164"/>
            </a:xfrm>
            <a:prstGeom prst="rect">
              <a:avLst/>
            </a:prstGeom>
            <a:noFill/>
          </p:spPr>
          <p:txBody>
            <a:bodyPr wrap="square" rtlCol="0">
              <a:spAutoFit/>
            </a:bodyPr>
            <a:lstStyle/>
            <a:p>
              <a:r>
                <a:rPr lang="en-CA" sz="1100" i="1" dirty="0">
                  <a:solidFill>
                    <a:srgbClr val="0070C0"/>
                  </a:solidFill>
                </a:rPr>
                <a:t>Provide a brief description, styled nicely, about what this site is about, what technologies you are using, the group member names, and the URL for the </a:t>
              </a:r>
              <a:r>
                <a:rPr lang="en-CA" sz="1100" i="1" dirty="0" err="1">
                  <a:solidFill>
                    <a:srgbClr val="0070C0"/>
                  </a:solidFill>
                </a:rPr>
                <a:t>github</a:t>
              </a:r>
              <a:r>
                <a:rPr lang="en-CA" sz="1100" i="1" dirty="0">
                  <a:solidFill>
                    <a:srgbClr val="0070C0"/>
                  </a:solidFill>
                </a:rPr>
                <a:t> repo. </a:t>
              </a:r>
            </a:p>
          </p:txBody>
        </p:sp>
        <p:sp>
          <p:nvSpPr>
            <p:cNvPr id="50" name="TextBox 49">
              <a:extLst>
                <a:ext uri="{FF2B5EF4-FFF2-40B4-BE49-F238E27FC236}">
                  <a16:creationId xmlns:a16="http://schemas.microsoft.com/office/drawing/2014/main" id="{649CF7A8-E576-7677-02AA-61C18A155B25}"/>
                </a:ext>
              </a:extLst>
            </p:cNvPr>
            <p:cNvSpPr txBox="1"/>
            <p:nvPr/>
          </p:nvSpPr>
          <p:spPr>
            <a:xfrm>
              <a:off x="2007289" y="3268431"/>
              <a:ext cx="3508260" cy="430887"/>
            </a:xfrm>
            <a:prstGeom prst="rect">
              <a:avLst/>
            </a:prstGeom>
            <a:noFill/>
          </p:spPr>
          <p:txBody>
            <a:bodyPr wrap="square" rtlCol="0">
              <a:spAutoFit/>
            </a:bodyPr>
            <a:lstStyle/>
            <a:p>
              <a:r>
                <a:rPr lang="en-US" sz="1100" i="1" dirty="0">
                  <a:solidFill>
                    <a:srgbClr val="0070C0"/>
                  </a:solidFill>
                </a:rPr>
                <a:t>Recommend using the &lt;dialog&gt; element for this (see Lab9b) … it’s very easy to use! </a:t>
              </a:r>
            </a:p>
          </p:txBody>
        </p:sp>
      </p:grpSp>
      <p:sp>
        <p:nvSpPr>
          <p:cNvPr id="49" name="TextBox 48">
            <a:extLst>
              <a:ext uri="{FF2B5EF4-FFF2-40B4-BE49-F238E27FC236}">
                <a16:creationId xmlns:a16="http://schemas.microsoft.com/office/drawing/2014/main" id="{A375A9AC-1E2A-2749-172B-449A24ECE2BB}"/>
              </a:ext>
            </a:extLst>
          </p:cNvPr>
          <p:cNvSpPr txBox="1"/>
          <p:nvPr/>
        </p:nvSpPr>
        <p:spPr>
          <a:xfrm>
            <a:off x="3314468" y="1805390"/>
            <a:ext cx="1337443" cy="461665"/>
          </a:xfrm>
          <a:prstGeom prst="rect">
            <a:avLst/>
          </a:prstGeom>
          <a:noFill/>
        </p:spPr>
        <p:txBody>
          <a:bodyPr wrap="square" rtlCol="0">
            <a:spAutoFit/>
          </a:bodyPr>
          <a:lstStyle/>
          <a:p>
            <a:r>
              <a:rPr lang="en-US" sz="1200" b="1" dirty="0"/>
              <a:t>About Us Dialog / Modal Window</a:t>
            </a:r>
          </a:p>
        </p:txBody>
      </p:sp>
    </p:spTree>
    <p:extLst>
      <p:ext uri="{BB962C8B-B14F-4D97-AF65-F5344CB8AC3E}">
        <p14:creationId xmlns:p14="http://schemas.microsoft.com/office/powerpoint/2010/main" val="25578712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2607</TotalTime>
  <Words>1224</Words>
  <Application>Microsoft Office PowerPoint</Application>
  <PresentationFormat>Widescreen</PresentationFormat>
  <Paragraphs>244</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Mount Royal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Randy Connolly</dc:creator>
  <cp:lastModifiedBy>Randy Connolly</cp:lastModifiedBy>
  <cp:revision>88</cp:revision>
  <dcterms:created xsi:type="dcterms:W3CDTF">2019-09-25T17:00:28Z</dcterms:created>
  <dcterms:modified xsi:type="dcterms:W3CDTF">2026-02-25T03:34:04Z</dcterms:modified>
</cp:coreProperties>
</file>